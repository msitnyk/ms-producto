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Lobster"/>
      <p:regular r:id="rId20"/>
    </p:embeddedFont>
    <p:embeddedFont>
      <p:font typeface="Alfa Slab On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B5DC41-36C3-416E-8ACD-9D68070FEF6D}">
  <a:tblStyle styleId="{64B5DC41-36C3-416E-8ACD-9D68070FEF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bster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AlfaSlabOn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roximaNova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39c09c82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39c09c82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39c09c82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39c09c82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39c09c827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39c09c827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39c09c827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39c09c82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39c09c82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39c09c82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39c09c82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39c09c82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39c09c82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c39c09c82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hyperlink" Target="https://www.figma.com/file/SRt0jIM5aO7vscZcieTMAa/OFIDI?node-id=0%3A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www.figma.com/file/SRt0jIM5aO7vscZcieTMAa/OFIDI?node-id=28%3A4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gif"/><Relationship Id="rId4" Type="http://schemas.openxmlformats.org/officeDocument/2006/relationships/hyperlink" Target="https://www.figma.com/proto/SRt0jIM5aO7vscZcieTMAa/OFIDI?node-id=99%3A15&amp;scaling=scale-dow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figma.com/proto/SRt0jIM5aO7vscZcieTMAa/OFIDI?node-id=165%3A3&amp;scaling=min-zoom" TargetMode="External"/><Relationship Id="rId4" Type="http://schemas.openxmlformats.org/officeDocument/2006/relationships/image" Target="../media/image8.jpg"/><Relationship Id="rId5" Type="http://schemas.openxmlformats.org/officeDocument/2006/relationships/image" Target="../media/image3.jpg"/><Relationship Id="rId6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Martin Sitnyk- Curso UX UI 2021</a:t>
            </a:r>
            <a:endParaRPr sz="1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246175" y="156550"/>
            <a:ext cx="39249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Wireframes a Mano</a:t>
            </a:r>
            <a:endParaRPr i="1">
              <a:solidFill>
                <a:schemeClr val="lt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17274" l="0" r="0" t="5850"/>
          <a:stretch/>
        </p:blipFill>
        <p:spPr>
          <a:xfrm>
            <a:off x="1755500" y="1011125"/>
            <a:ext cx="2309524" cy="327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17271" l="0" r="0" t="3067"/>
          <a:stretch/>
        </p:blipFill>
        <p:spPr>
          <a:xfrm>
            <a:off x="4777250" y="1011125"/>
            <a:ext cx="2309524" cy="32707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6653200" y="4607475"/>
            <a:ext cx="223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Asi </a:t>
            </a:r>
            <a:r>
              <a:rPr lang="en">
                <a:latin typeface="Lobster"/>
                <a:ea typeface="Lobster"/>
                <a:cs typeface="Lobster"/>
                <a:sym typeface="Lobster"/>
              </a:rPr>
              <a:t>empezamos…..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33425" y="120775"/>
            <a:ext cx="36132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Wireframe digital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4176" l="32775" r="25649" t="18057"/>
          <a:stretch/>
        </p:blipFill>
        <p:spPr>
          <a:xfrm>
            <a:off x="2525788" y="775674"/>
            <a:ext cx="4092427" cy="430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311700" y="4558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Fuente: 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 a Figma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4773" l="29347" r="27854" t="17617"/>
          <a:stretch/>
        </p:blipFill>
        <p:spPr>
          <a:xfrm>
            <a:off x="2774650" y="797300"/>
            <a:ext cx="4180474" cy="426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type="title"/>
          </p:nvPr>
        </p:nvSpPr>
        <p:spPr>
          <a:xfrm>
            <a:off x="233425" y="120775"/>
            <a:ext cx="36468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Patrones de diseño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11700" y="4558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Fuente: 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 a Figma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154300"/>
            <a:ext cx="38145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Prototipo funcional</a:t>
            </a:r>
            <a:endParaRPr i="1">
              <a:solidFill>
                <a:schemeClr val="lt1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7457" l="38520" r="38613" t="8283"/>
          <a:stretch/>
        </p:blipFill>
        <p:spPr>
          <a:xfrm>
            <a:off x="4484025" y="1073650"/>
            <a:ext cx="2090952" cy="341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311700" y="4558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Fuente: 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 a Figma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67725" y="104275"/>
            <a:ext cx="44706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Evolución del prototipo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257175" y="3856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5" name="Google Shape;95;p18"/>
          <p:cNvSpPr txBox="1"/>
          <p:nvPr/>
        </p:nvSpPr>
        <p:spPr>
          <a:xfrm>
            <a:off x="2920450" y="3776550"/>
            <a:ext cx="259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6" name="Google Shape;96;p18"/>
          <p:cNvSpPr txBox="1"/>
          <p:nvPr/>
        </p:nvSpPr>
        <p:spPr>
          <a:xfrm>
            <a:off x="6546525" y="3776550"/>
            <a:ext cx="20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aphicFrame>
        <p:nvGraphicFramePr>
          <p:cNvPr id="97" name="Google Shape;97;p18"/>
          <p:cNvGraphicFramePr/>
          <p:nvPr/>
        </p:nvGraphicFramePr>
        <p:xfrm>
          <a:off x="0" y="117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{64B5DC41-36C3-416E-8ACD-9D68070FEF6D}</a:tableStyleId>
              </a:tblPr>
              <a:tblGrid>
                <a:gridCol w="3048000"/>
                <a:gridCol w="3048000"/>
                <a:gridCol w="3048000"/>
              </a:tblGrid>
              <a:tr h="275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21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22"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Wireframes a Mano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22"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Wireframes Digitales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22"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22"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Patrones de diseño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22"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57468" l="50002" r="8502" t="5851"/>
          <a:stretch/>
        </p:blipFill>
        <p:spPr>
          <a:xfrm>
            <a:off x="80000" y="1629532"/>
            <a:ext cx="1340176" cy="2182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4">
            <a:alphaModFix/>
          </a:blip>
          <a:srcRect b="17273" l="4244" r="46856" t="41076"/>
          <a:stretch/>
        </p:blipFill>
        <p:spPr>
          <a:xfrm>
            <a:off x="1500225" y="1664915"/>
            <a:ext cx="1340176" cy="21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 rotWithShape="1">
          <a:blip r:embed="rId5">
            <a:alphaModFix/>
          </a:blip>
          <a:srcRect b="11449" l="28844" r="56360" t="43388"/>
          <a:stretch/>
        </p:blipFill>
        <p:spPr>
          <a:xfrm>
            <a:off x="4615422" y="1299875"/>
            <a:ext cx="1395677" cy="254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 rotWithShape="1">
          <a:blip r:embed="rId6">
            <a:alphaModFix/>
          </a:blip>
          <a:srcRect b="6059" l="50718" r="28859" t="31289"/>
          <a:stretch/>
        </p:blipFill>
        <p:spPr>
          <a:xfrm>
            <a:off x="3002237" y="1299875"/>
            <a:ext cx="1474224" cy="254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 rotWithShape="1">
          <a:blip r:embed="rId7">
            <a:alphaModFix/>
          </a:blip>
          <a:srcRect b="27110" l="41584" r="43201" t="26214"/>
          <a:stretch/>
        </p:blipFill>
        <p:spPr>
          <a:xfrm>
            <a:off x="6150062" y="1299875"/>
            <a:ext cx="1474224" cy="254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8">
            <a:alphaModFix/>
          </a:blip>
          <a:srcRect b="24122" l="27670" r="57673" t="28793"/>
          <a:stretch/>
        </p:blipFill>
        <p:spPr>
          <a:xfrm>
            <a:off x="7624275" y="1310688"/>
            <a:ext cx="1395677" cy="2522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276525" y="365875"/>
            <a:ext cx="19152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Métricas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61525" y="1218775"/>
            <a:ext cx="4088400" cy="10977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000">
                <a:solidFill>
                  <a:srgbClr val="000000"/>
                </a:solidFill>
              </a:rPr>
              <a:t>Situación 1</a:t>
            </a:r>
            <a:r>
              <a:rPr lang="en" sz="1000">
                <a:solidFill>
                  <a:srgbClr val="000000"/>
                </a:solidFill>
              </a:rPr>
              <a:t>: Supongamos que tenes el </a:t>
            </a:r>
            <a:r>
              <a:rPr lang="en" sz="1000">
                <a:solidFill>
                  <a:srgbClr val="000000"/>
                </a:solidFill>
              </a:rPr>
              <a:t>césped</a:t>
            </a:r>
            <a:r>
              <a:rPr lang="en" sz="1000">
                <a:solidFill>
                  <a:srgbClr val="000000"/>
                </a:solidFill>
              </a:rPr>
              <a:t> muy largo de tu casa y  queres buscar un jardinero para que pueda hacer un trabajo de jardineria en tu casa. 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</a:rPr>
              <a:t>Criterio de éxito</a:t>
            </a:r>
            <a:r>
              <a:rPr lang="en" sz="1000">
                <a:solidFill>
                  <a:srgbClr val="000000"/>
                </a:solidFill>
              </a:rPr>
              <a:t>: Debe llegar a la página de contacto de la persona que realice el oficio-. Poder visualizar el correo y el teléfono.</a:t>
            </a:r>
            <a:r>
              <a:rPr lang="en" sz="1000">
                <a:solidFill>
                  <a:srgbClr val="333333"/>
                </a:solidFill>
              </a:rPr>
              <a:t>  </a:t>
            </a:r>
            <a:endParaRPr sz="10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4389450" y="1218775"/>
            <a:ext cx="4614000" cy="1097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75">
                <a:latin typeface="Proxima Nova"/>
                <a:ea typeface="Proxima Nova"/>
                <a:cs typeface="Proxima Nova"/>
                <a:sym typeface="Proxima Nova"/>
              </a:rPr>
              <a:t>Situación 2.</a:t>
            </a:r>
            <a:r>
              <a:rPr lang="en" sz="875">
                <a:latin typeface="Proxima Nova"/>
                <a:ea typeface="Proxima Nova"/>
                <a:cs typeface="Proxima Nova"/>
                <a:sym typeface="Proxima Nova"/>
              </a:rPr>
              <a:t> Supongamos que realizas un oficio, el cual ofreces un servicio a la sociedad. Te </a:t>
            </a:r>
            <a:r>
              <a:rPr lang="en" sz="875">
                <a:latin typeface="Proxima Nova"/>
                <a:ea typeface="Proxima Nova"/>
                <a:cs typeface="Proxima Nova"/>
                <a:sym typeface="Proxima Nova"/>
              </a:rPr>
              <a:t>gustaría</a:t>
            </a:r>
            <a:r>
              <a:rPr lang="en" sz="875">
                <a:latin typeface="Proxima Nova"/>
                <a:ea typeface="Proxima Nova"/>
                <a:cs typeface="Proxima Nova"/>
                <a:sym typeface="Proxima Nova"/>
              </a:rPr>
              <a:t> publicarlo en la app a fin de poder ser conocido y  contactado por nuevos clientes. </a:t>
            </a:r>
            <a:endParaRPr sz="875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75">
                <a:latin typeface="Proxima Nova"/>
                <a:ea typeface="Proxima Nova"/>
                <a:cs typeface="Proxima Nova"/>
                <a:sym typeface="Proxima Nova"/>
              </a:rPr>
              <a:t>Criterio de éxito</a:t>
            </a:r>
            <a:r>
              <a:rPr lang="en" sz="875">
                <a:latin typeface="Proxima Nova"/>
                <a:ea typeface="Proxima Nova"/>
                <a:cs typeface="Proxima Nova"/>
                <a:sym typeface="Proxima Nova"/>
              </a:rPr>
              <a:t>: Debe llegar a la página de hemos publicado tu oficio y haber recorrido todo el proceso de carga del mismo. .</a:t>
            </a:r>
            <a:r>
              <a:rPr lang="en" sz="1300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200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61525" y="2465225"/>
            <a:ext cx="4212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Tareas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 1- Debes hacerte un usuario en la app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 2- Encontrar a una persona que realice el oficio, en esta caso un jardinero.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 3- Encontrar los datos de contacto de la persona que realice jardinería.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4- Publicar un oficio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389450" y="2465225"/>
            <a:ext cx="43578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latin typeface="Proxima Nova"/>
                <a:ea typeface="Proxima Nova"/>
                <a:cs typeface="Proxima Nova"/>
                <a:sym typeface="Proxima Nova"/>
              </a:rPr>
              <a:t>Encuesta de satisfacción:</a:t>
            </a:r>
            <a:endParaRPr b="1"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¿Qué tan sencillo te resultó hacerte un usuario?,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¿Qué tan sencillo te resultó encontrar una persona?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¿Qué tan sencillo te resultó encontrar los datos de  una persona?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¿Qué tan sencillo te resultó publicar un oficio?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Cada una de la preguntas anteriores se puntuaron con la siguiente escala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latin typeface="Proxima Nova"/>
                <a:ea typeface="Proxima Nova"/>
                <a:cs typeface="Proxima Nova"/>
                <a:sym typeface="Proxima Nova"/>
              </a:rPr>
              <a:t>1- Muy Fácil , 2- Fácil , 3- Indistinto , 4- Difícil , 5 Muy Difícil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255775" y="199025"/>
            <a:ext cx="27411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Conclusiones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255775" y="951200"/>
            <a:ext cx="3999900" cy="1907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200">
                <a:solidFill>
                  <a:srgbClr val="000000"/>
                </a:solidFill>
              </a:rPr>
              <a:t>Hacerse un usuario en la app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00">
                <a:solidFill>
                  <a:srgbClr val="FF0000"/>
                </a:solidFill>
              </a:rPr>
              <a:t>-</a:t>
            </a:r>
            <a:r>
              <a:rPr lang="en" sz="1200">
                <a:solidFill>
                  <a:srgbClr val="FF0000"/>
                </a:solidFill>
              </a:rPr>
              <a:t>“Al registrar el oficio el switch profesional no cambia al tocarlo pero igual me manda a la página para completar mis datos.”</a:t>
            </a:r>
            <a:br>
              <a:rPr lang="en" sz="1200">
                <a:solidFill>
                  <a:srgbClr val="FF0000"/>
                </a:solidFill>
              </a:rPr>
            </a:b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200">
                <a:solidFill>
                  <a:srgbClr val="000000"/>
                </a:solidFill>
              </a:rPr>
              <a:t>- 4 de 5  usuarios calificaron el proceso como Muy Fácil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2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2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4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b="1" sz="1460"/>
          </a:p>
        </p:txBody>
      </p:sp>
      <p:sp>
        <p:nvSpPr>
          <p:cNvPr id="119" name="Google Shape;119;p20"/>
          <p:cNvSpPr txBox="1"/>
          <p:nvPr/>
        </p:nvSpPr>
        <p:spPr>
          <a:xfrm>
            <a:off x="255775" y="2862425"/>
            <a:ext cx="3999900" cy="2259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Proxima Nova"/>
                <a:ea typeface="Proxima Nova"/>
                <a:cs typeface="Proxima Nova"/>
                <a:sym typeface="Proxima Nova"/>
              </a:rPr>
              <a:t>Encontrar a una persona que realice el oficio, en esta caso un jardinero.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-Indicar nombres a los filtros</a:t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-Agregar más categorías de los oficios</a:t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-No solo buscar personas por mapa</a:t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- 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Todos los usuarios completaron la tarea con éxito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4721875" y="951200"/>
            <a:ext cx="4212300" cy="2185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Proxima Nova"/>
                <a:ea typeface="Proxima Nova"/>
                <a:cs typeface="Proxima Nova"/>
                <a:sym typeface="Proxima Nova"/>
              </a:rPr>
              <a:t>Encontrar los datos de contacto de la persona que realice jardinería.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 “Buscando llegué hasta ver el perfil, no responden los botones llamar, email, teléfono.” </a:t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Cuando entré al perfil del jardinero me hubiera gustado ver comentarios de otras personas”</a:t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-4 de 5  usuarios calificaron el proceso como Muy Fácil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4721875" y="2862425"/>
            <a:ext cx="4212300" cy="2241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Proxima Nova"/>
                <a:ea typeface="Proxima Nova"/>
                <a:cs typeface="Proxima Nova"/>
                <a:sym typeface="Proxima Nova"/>
              </a:rPr>
              <a:t>Publicar un oficio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-La opción de publicar oficio está demasiado escondida</a:t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-Que la carga de fotos no sea obligatoria para publicar un oficio</a:t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 El usuario no sabe cómo terminar el proceso</a:t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-Validar datos de contacto cuando queres publicar un oficio</a:t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-Solo 2 usuarios pudieron completar esta tarea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5165875" y="55925"/>
            <a:ext cx="30000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-Oportunidades de mejora</a:t>
            </a:r>
            <a:endParaRPr sz="146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0">
                <a:latin typeface="Proxima Nova"/>
                <a:ea typeface="Proxima Nova"/>
                <a:cs typeface="Proxima Nova"/>
                <a:sym typeface="Proxima Nova"/>
              </a:rPr>
              <a:t>-Vas por el camino correcto</a:t>
            </a:r>
            <a:endParaRPr sz="146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6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233775" y="158875"/>
            <a:ext cx="83778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Algunas correcciones </a:t>
            </a:r>
            <a:r>
              <a:rPr i="1" lang="en">
                <a:solidFill>
                  <a:schemeClr val="lt1"/>
                </a:solidFill>
              </a:rPr>
              <a:t>después</a:t>
            </a:r>
            <a:r>
              <a:rPr i="1" lang="en">
                <a:solidFill>
                  <a:schemeClr val="lt1"/>
                </a:solidFill>
              </a:rPr>
              <a:t> de las pruebas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0" y="4777800"/>
            <a:ext cx="2598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950" u="sng">
                <a:solidFill>
                  <a:schemeClr val="hlink"/>
                </a:solidFill>
                <a:hlinkClick r:id="rId3"/>
              </a:rPr>
              <a:t>Nuevo link de prototipado</a:t>
            </a:r>
            <a:endParaRPr sz="9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9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950"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925" y="991350"/>
            <a:ext cx="2163053" cy="384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2053" y="1004350"/>
            <a:ext cx="2163053" cy="384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7807" y="1004339"/>
            <a:ext cx="2163053" cy="38473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694950" y="1771475"/>
            <a:ext cx="120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FFF00"/>
                </a:highlight>
                <a:latin typeface="Proxima Nova"/>
                <a:ea typeface="Proxima Nova"/>
                <a:cs typeface="Proxima Nova"/>
                <a:sym typeface="Proxima Nova"/>
              </a:rPr>
              <a:t>Nuevas Categorías</a:t>
            </a:r>
            <a:endParaRPr b="1">
              <a:highlight>
                <a:srgbClr val="FFFF00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7555925" y="1956150"/>
            <a:ext cx="1208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FFF00"/>
                </a:highlight>
                <a:latin typeface="Proxima Nova"/>
                <a:ea typeface="Proxima Nova"/>
                <a:cs typeface="Proxima Nova"/>
                <a:sym typeface="Proxima Nova"/>
              </a:rPr>
              <a:t>Carga de fotos opcional</a:t>
            </a:r>
            <a:endParaRPr b="1">
              <a:highlight>
                <a:srgbClr val="FFFF00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00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FFF00"/>
                </a:highlight>
                <a:latin typeface="Proxima Nova"/>
                <a:ea typeface="Proxima Nova"/>
                <a:cs typeface="Proxima Nova"/>
                <a:sym typeface="Proxima Nova"/>
              </a:rPr>
              <a:t>Validación de datos de contacto</a:t>
            </a:r>
            <a:endParaRPr b="1">
              <a:highlight>
                <a:srgbClr val="FFFF00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767650" y="1193025"/>
            <a:ext cx="120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FFF00"/>
                </a:highlight>
                <a:latin typeface="Proxima Nova"/>
                <a:ea typeface="Proxima Nova"/>
                <a:cs typeface="Proxima Nova"/>
                <a:sym typeface="Proxima Nova"/>
              </a:rPr>
              <a:t>Filtros</a:t>
            </a:r>
            <a:endParaRPr b="1">
              <a:highlight>
                <a:srgbClr val="FFFF00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