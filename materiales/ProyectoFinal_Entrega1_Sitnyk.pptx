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Proxima Nova"/>
      <p:regular r:id="rId19"/>
      <p:bold r:id="rId20"/>
      <p:italic r:id="rId21"/>
      <p:boldItalic r:id="rId22"/>
    </p:embeddedFont>
    <p:embeddedFont>
      <p:font typeface="Roboto"/>
      <p:regular r:id="rId23"/>
      <p:bold r:id="rId24"/>
      <p:italic r:id="rId25"/>
      <p:boldItalic r:id="rId26"/>
    </p:embeddedFont>
    <p:embeddedFont>
      <p:font typeface="Source Code Pro"/>
      <p:regular r:id="rId27"/>
      <p:bold r:id="rId28"/>
      <p:italic r:id="rId29"/>
      <p:boldItalic r:id="rId30"/>
    </p:embeddedFont>
    <p:embeddedFont>
      <p:font typeface="Alfa Slab One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AAD6EF-BBF9-4C84-9E15-045BC64280EB}">
  <a:tblStyle styleId="{CEAAD6EF-BBF9-4C84-9E15-045BC64280E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.fntdata"/><Relationship Id="rId22" Type="http://schemas.openxmlformats.org/officeDocument/2006/relationships/font" Target="fonts/ProximaNova-boldItalic.fntdata"/><Relationship Id="rId21" Type="http://schemas.openxmlformats.org/officeDocument/2006/relationships/font" Target="fonts/ProximaNova-italic.fntdata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SourceCodePro-bold.fntdata"/><Relationship Id="rId27" Type="http://schemas.openxmlformats.org/officeDocument/2006/relationships/font" Target="fonts/SourceCodePr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SourceCodePr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lfaSlabOne-regular.fntdata"/><Relationship Id="rId30" Type="http://schemas.openxmlformats.org/officeDocument/2006/relationships/font" Target="fonts/SourceCodePr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roximaNova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c6f80d1f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c6f80d1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b5e6a5479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b5e6a5479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b5e6a5479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b5e6a5479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8c216708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8c216708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6f80d1ff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c6f80d1f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bbf46b6a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bbf46b6a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b5e6a5479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b5e6a5479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b5e6a54790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b5e6a54790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b5e6a54790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b5e6a54790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b5e6a54790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b5e6a54790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b5e6a54790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b5e6a54790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hyperlink" Target="https://www.lanacion.com.ar/economia/el-argentino-que-termino-el-colegio-a-los-15-anos-y-tras-fracasar-con-un-negocio-creo-una-empresa-elogiada-por-harvard-nid2026653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himsical.com/userflows-2-oficialista-5j7K1Gz9QndRvv1e8FSe7z@2Ux7TurymN7TphgXCQ8P" TargetMode="External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himsical.com/userflows-2-usuario-JgiWH4SLPHNKdfsFgSsXxk@2Ux7TurymN84zfrUxb8T" TargetMode="External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2856900" y="4410000"/>
            <a:ext cx="62871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Martin Sitnyk- Curso UX UI 2021</a:t>
            </a:r>
            <a:endParaRPr sz="14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Oficios Diversos</a:t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19737" l="0" r="0" t="0"/>
          <a:stretch/>
        </p:blipFill>
        <p:spPr>
          <a:xfrm>
            <a:off x="3253850" y="1315750"/>
            <a:ext cx="2768851" cy="115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0" y="160175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Sobre el proyecto…. 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69350" y="1013400"/>
            <a:ext cx="2906400" cy="31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Sabias que..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-Unos de los principales gastos de una vivienda (casa o departamento) son los de mantenimientos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-Los oficios más buscados durante el 2020 fueron: electricistas, albañiles y pileteros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-Las recomendaciones </a:t>
            </a:r>
            <a:r>
              <a:rPr lang="en"/>
              <a:t>más</a:t>
            </a:r>
            <a:r>
              <a:rPr lang="en"/>
              <a:t> utilizadas para elegir una persona que </a:t>
            </a:r>
            <a:r>
              <a:rPr lang="en"/>
              <a:t>realice</a:t>
            </a:r>
            <a:r>
              <a:rPr lang="en"/>
              <a:t> un oficio son: el</a:t>
            </a:r>
            <a:r>
              <a:rPr lang="en"/>
              <a:t> boca en boca (</a:t>
            </a:r>
            <a:r>
              <a:rPr lang="en"/>
              <a:t>Recomendación, referencias</a:t>
            </a:r>
            <a:r>
              <a:rPr lang="en"/>
              <a:t> de  amigos y familiares), el presupuesto, la experiencia, la cercanía, entre otros.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059900" y="1013400"/>
            <a:ext cx="3245700" cy="34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100"/>
              <a:t>Descripción del Problema</a:t>
            </a:r>
            <a:endParaRPr b="1"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00"/>
              <a:t>Encontrar de una manera sencilla a personas que realicen oficios de forma centralizada. Muchas de estas búsquedas se basan en reputaciones y recomendaciones mediante conocidos. El método de recomendación más utilizado es el “</a:t>
            </a:r>
            <a:r>
              <a:rPr b="1" i="1" lang="en" sz="1100"/>
              <a:t>boca en boca</a:t>
            </a:r>
            <a:r>
              <a:rPr lang="en" sz="1100"/>
              <a:t>”. Estos oficios quizás no están familiarizados con el ámbito digital o tecnológico. </a:t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100"/>
          </a:p>
        </p:txBody>
      </p:sp>
      <p:sp>
        <p:nvSpPr>
          <p:cNvPr id="66" name="Google Shape;66;p14"/>
          <p:cNvSpPr txBox="1"/>
          <p:nvPr>
            <p:ph idx="4294967295" type="body"/>
          </p:nvPr>
        </p:nvSpPr>
        <p:spPr>
          <a:xfrm>
            <a:off x="6305600" y="1013400"/>
            <a:ext cx="280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Propuesta</a:t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Brindar una opción para facilitar la búsquedas de personas que realizan un oficio. 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Ofrecer un medio para que estos últimos puedan ser conocidos mediante su reputación. </a:t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Solución </a:t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/>
              <a:t>Para la persona que busca</a:t>
            </a:r>
            <a:r>
              <a:rPr lang="en" sz="1100"/>
              <a:t>: Encontrar y contactar de una manera sencilla y segura a personas que realicen oficios. 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u="sng"/>
              <a:t>Para la persona que realice el oficio</a:t>
            </a:r>
            <a:r>
              <a:rPr lang="en" sz="1100"/>
              <a:t>: Poder ser conocido, encontrado y recomendado por los clientes. 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39650" y="130175"/>
            <a:ext cx="9144000" cy="65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/>
              <a:t>MVP</a:t>
            </a:r>
            <a:endParaRPr sz="2720"/>
          </a:p>
        </p:txBody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104450" y="3456700"/>
            <a:ext cx="3203400" cy="16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en" sz="1000">
                <a:solidFill>
                  <a:srgbClr val="DD7E6B"/>
                </a:solidFill>
              </a:rPr>
              <a:t>Buscar un servicio</a:t>
            </a:r>
            <a:endParaRPr b="1" sz="1000">
              <a:solidFill>
                <a:srgbClr val="DD7E6B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b="1" sz="1000">
              <a:solidFill>
                <a:srgbClr val="DD7E6B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Usuario que quiere contratar un oficio</a:t>
            </a:r>
            <a:endParaRPr b="1" sz="1000"/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Ingresar a la app utilizando mi correo electrónico</a:t>
            </a:r>
            <a:endParaRPr sz="1000"/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Buscar por rubro</a:t>
            </a:r>
            <a:endParaRPr sz="1000"/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Ver perfil del personal a contratar</a:t>
            </a:r>
            <a:endParaRPr sz="1000"/>
          </a:p>
          <a:p>
            <a:pPr indent="0" lvl="0" marL="45720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0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000"/>
          </a:p>
        </p:txBody>
      </p:sp>
      <p:sp>
        <p:nvSpPr>
          <p:cNvPr id="73" name="Google Shape;73;p15"/>
          <p:cNvSpPr txBox="1"/>
          <p:nvPr>
            <p:ph idx="4294967295" type="body"/>
          </p:nvPr>
        </p:nvSpPr>
        <p:spPr>
          <a:xfrm>
            <a:off x="3307850" y="3402850"/>
            <a:ext cx="2895000" cy="17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DD7E6B"/>
                </a:solidFill>
              </a:rPr>
              <a:t>Publicar un servicio</a:t>
            </a:r>
            <a:endParaRPr b="1" sz="1000">
              <a:solidFill>
                <a:srgbClr val="DD7E6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/>
              <a:t>Usuario que ofrece un servicio</a:t>
            </a:r>
            <a:endParaRPr b="1" sz="1000"/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Ingreso a la app utilizando mi celular y correo electrónico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Describir perfil personal con  las información del servicio a ofrecer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Publicar oficio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74" name="Google Shape;74;p15"/>
          <p:cNvSpPr txBox="1"/>
          <p:nvPr>
            <p:ph idx="4294967295" type="body"/>
          </p:nvPr>
        </p:nvSpPr>
        <p:spPr>
          <a:xfrm>
            <a:off x="6293825" y="3402850"/>
            <a:ext cx="2591700" cy="17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DD7E6B"/>
                </a:solidFill>
              </a:rPr>
              <a:t>Contactar un servicio</a:t>
            </a:r>
            <a:endParaRPr b="1" sz="1000">
              <a:solidFill>
                <a:srgbClr val="DD7E6B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Contactar mediante el celular publicado en su perfil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Calificar luego del contacto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19737" l="0" r="10770" t="0"/>
          <a:stretch/>
        </p:blipFill>
        <p:spPr>
          <a:xfrm>
            <a:off x="6608475" y="62850"/>
            <a:ext cx="2470725" cy="11598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>
            <p:ph idx="4294967295" type="body"/>
          </p:nvPr>
        </p:nvSpPr>
        <p:spPr>
          <a:xfrm>
            <a:off x="336625" y="1072675"/>
            <a:ext cx="8159700" cy="14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100">
                <a:solidFill>
                  <a:schemeClr val="accent4"/>
                </a:solidFill>
              </a:rPr>
              <a:t>Mínimo Producto Viable</a:t>
            </a:r>
            <a:endParaRPr b="1" sz="11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00"/>
              <a:t>Oficios Diversos es una aplicación de oferta de servicios que permite a las personas publicar sus oficios  y ser fácilmente encontrados, calificados y recomendados  por aquellos usuarios que los desean. </a:t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00"/>
              <a:t>Con Ofidi podrás encontrar personas recomendables que realicen el oficio que estas buscando!</a:t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100"/>
          </a:p>
        </p:txBody>
      </p:sp>
      <p:sp>
        <p:nvSpPr>
          <p:cNvPr id="77" name="Google Shape;77;p15"/>
          <p:cNvSpPr txBox="1"/>
          <p:nvPr>
            <p:ph idx="4294967295" type="title"/>
          </p:nvPr>
        </p:nvSpPr>
        <p:spPr>
          <a:xfrm>
            <a:off x="0" y="2830150"/>
            <a:ext cx="907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/>
              <a:t>Funcionalidades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1550" y="804450"/>
            <a:ext cx="5650700" cy="176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1551" y="2886500"/>
            <a:ext cx="5650700" cy="173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821350" y="538600"/>
            <a:ext cx="700200" cy="6327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9900"/>
              </a:highlight>
            </a:endParaRPr>
          </a:p>
        </p:txBody>
      </p:sp>
      <p:sp>
        <p:nvSpPr>
          <p:cNvPr id="85" name="Google Shape;85;p16"/>
          <p:cNvSpPr/>
          <p:nvPr/>
        </p:nvSpPr>
        <p:spPr>
          <a:xfrm flipH="1" rot="10800000">
            <a:off x="731400" y="4268275"/>
            <a:ext cx="700200" cy="5160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9900"/>
              </a:highlight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1576825" y="465750"/>
            <a:ext cx="265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Usuario que quiere contratar un oficio</a:t>
            </a:r>
            <a:endParaRPr sz="100"/>
          </a:p>
        </p:txBody>
      </p:sp>
      <p:sp>
        <p:nvSpPr>
          <p:cNvPr id="87" name="Google Shape;87;p16"/>
          <p:cNvSpPr txBox="1"/>
          <p:nvPr/>
        </p:nvSpPr>
        <p:spPr>
          <a:xfrm>
            <a:off x="1521550" y="456055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Usuario que ofrece un servicio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-67325" y="2542788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¡</a:t>
            </a:r>
            <a:r>
              <a:rPr b="1" lang="en" sz="1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Con Ofidi podrás encontrar personas recomendables que realicen el oficio que estas buscando!</a:t>
            </a:r>
            <a:endParaRPr b="1" sz="15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4439425" y="4020325"/>
            <a:ext cx="4704600" cy="12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“Desde su nacimiento, esta aplicación revolucionó la forma de buscar y contratar servicios. Gasistas, electricistas, plomeros, todos tienen su espacio y su calificación en ClasApp. No podés equivocarte. Si tiene una buena puntuación, seguro que no te falla.”</a:t>
            </a:r>
            <a:endParaRPr sz="115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5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Esta es la nueva forma de relacionarse, con dos identidades que no se excluyen mutuamente: la real y la virtual. En ambas debes cuidar tu imagen y ofrecer un buen servicio. El resto es la calificación que es complementario al “boca a boca”.</a:t>
            </a:r>
            <a:endParaRPr sz="115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 b="6064" l="3071" r="27441" t="17372"/>
          <a:stretch/>
        </p:blipFill>
        <p:spPr>
          <a:xfrm>
            <a:off x="4439425" y="1017725"/>
            <a:ext cx="4704600" cy="300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17725"/>
            <a:ext cx="4286575" cy="22029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-63387" y="3358550"/>
            <a:ext cx="4119600" cy="8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400"/>
              </a:spcAft>
              <a:buSzPts val="275"/>
              <a:buNone/>
            </a:pPr>
            <a:r>
              <a:rPr lang="en" sz="875">
                <a:solidFill>
                  <a:srgbClr val="000000"/>
                </a:solidFill>
                <a:highlight>
                  <a:srgbClr val="FFFF00"/>
                </a:highlight>
                <a:latin typeface="Georgia"/>
                <a:ea typeface="Georgia"/>
                <a:cs typeface="Georgia"/>
                <a:sym typeface="Georgia"/>
              </a:rPr>
              <a:t>. Hoy, la realidad es distinta: la empresa atraviesa una etapa de cambios y reestructuración. La startup argentina abandonó su plataforma que conectaba profesionales de servicios con usuarios finales, y ahora solo trabajará en el segmento de empresas</a:t>
            </a:r>
            <a:r>
              <a:rPr lang="en" sz="875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. Además, dejó las oficinas de Humboldt y Cabrera (inauguradas el año pasado), despidió a 40 personas, aunque mantiene una plantilla de 100 empleados. </a:t>
            </a:r>
            <a:r>
              <a:rPr lang="en" sz="875">
                <a:solidFill>
                  <a:srgbClr val="000000"/>
                </a:solidFill>
                <a:highlight>
                  <a:srgbClr val="FFFF00"/>
                </a:highlight>
                <a:latin typeface="Georgia"/>
                <a:ea typeface="Georgia"/>
                <a:cs typeface="Georgia"/>
                <a:sym typeface="Georgia"/>
              </a:rPr>
              <a:t>"El negocio para usuario final consume mucha caja, le pasa a Uber, a Rappi y otras tantas, y a veces es difícil financiar el crecimiento", explicó </a:t>
            </a:r>
            <a:r>
              <a:rPr lang="en" sz="875">
                <a:solidFill>
                  <a:srgbClr val="000000"/>
                </a:solidFill>
                <a:highlight>
                  <a:srgbClr val="FFFF00"/>
                </a:highlight>
                <a:uFill>
                  <a:noFill/>
                </a:uFill>
                <a:latin typeface="Georgia"/>
                <a:ea typeface="Georgia"/>
                <a:cs typeface="Georgia"/>
                <a:sym typeface="Georgi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Matías Recchia, el CEO de la compañía (y uno de sus fundadores)</a:t>
            </a:r>
            <a:r>
              <a:rPr lang="en" sz="875">
                <a:solidFill>
                  <a:srgbClr val="000000"/>
                </a:solidFill>
                <a:highlight>
                  <a:srgbClr val="FFFF00"/>
                </a:highlight>
                <a:latin typeface="Georgia"/>
                <a:ea typeface="Georgia"/>
                <a:cs typeface="Georgia"/>
                <a:sym typeface="Georgia"/>
              </a:rPr>
              <a:t>, a LA NACION</a:t>
            </a:r>
            <a:r>
              <a:rPr lang="en" sz="875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. "</a:t>
            </a:r>
            <a:endParaRPr sz="1050"/>
          </a:p>
        </p:txBody>
      </p:sp>
      <p:sp>
        <p:nvSpPr>
          <p:cNvPr id="97" name="Google Shape;97;p17"/>
          <p:cNvSpPr txBox="1"/>
          <p:nvPr>
            <p:ph type="title"/>
          </p:nvPr>
        </p:nvSpPr>
        <p:spPr>
          <a:xfrm>
            <a:off x="0" y="13465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Investigación de escritorio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0" y="81475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Principales competidores</a:t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556154" y="4626763"/>
            <a:ext cx="846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Solo Timbrit y ClasApps son competidores directos con  Ofidi.</a:t>
            </a:r>
            <a:endParaRPr/>
          </a:p>
        </p:txBody>
      </p:sp>
      <p:cxnSp>
        <p:nvCxnSpPr>
          <p:cNvPr id="104" name="Google Shape;104;p18"/>
          <p:cNvCxnSpPr/>
          <p:nvPr/>
        </p:nvCxnSpPr>
        <p:spPr>
          <a:xfrm>
            <a:off x="-80800" y="2262075"/>
            <a:ext cx="923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18"/>
          <p:cNvSpPr/>
          <p:nvPr/>
        </p:nvSpPr>
        <p:spPr>
          <a:xfrm>
            <a:off x="774825" y="1645371"/>
            <a:ext cx="1257300" cy="1216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774872" y="1975743"/>
            <a:ext cx="1257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Redes Sociales</a:t>
            </a:r>
            <a:endParaRPr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(FB, IG)</a:t>
            </a:r>
            <a:endParaRPr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2506730" y="902125"/>
            <a:ext cx="2793300" cy="2703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2506733" y="1975743"/>
            <a:ext cx="2793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Timbrit</a:t>
            </a:r>
            <a:endParaRPr sz="3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5774476" y="1564618"/>
            <a:ext cx="1424400" cy="1378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 txBox="1"/>
          <p:nvPr/>
        </p:nvSpPr>
        <p:spPr>
          <a:xfrm>
            <a:off x="5774665" y="1975743"/>
            <a:ext cx="14244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ClasApps</a:t>
            </a:r>
            <a:endParaRPr sz="18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7673249" y="1790806"/>
            <a:ext cx="957300" cy="926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/>
        </p:nvSpPr>
        <p:spPr>
          <a:xfrm>
            <a:off x="7673576" y="1975743"/>
            <a:ext cx="957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Otros </a:t>
            </a:r>
            <a:r>
              <a:rPr lang="en" sz="13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(Iguanafix)</a:t>
            </a:r>
            <a:endParaRPr sz="13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0522" y="3669873"/>
            <a:ext cx="574608" cy="556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6104" y="3669856"/>
            <a:ext cx="574608" cy="556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48448" y="3669876"/>
            <a:ext cx="574609" cy="556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 rotWithShape="1">
          <a:blip r:embed="rId6">
            <a:alphaModFix/>
          </a:blip>
          <a:srcRect b="11988" l="7678" r="7012" t="10673"/>
          <a:stretch/>
        </p:blipFill>
        <p:spPr>
          <a:xfrm>
            <a:off x="860100" y="3669875"/>
            <a:ext cx="1086853" cy="55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Conclusiones del Benchmarking</a:t>
            </a:r>
            <a:endParaRPr/>
          </a:p>
        </p:txBody>
      </p:sp>
      <p:graphicFrame>
        <p:nvGraphicFramePr>
          <p:cNvPr id="122" name="Google Shape;122;p19"/>
          <p:cNvGraphicFramePr/>
          <p:nvPr/>
        </p:nvGraphicFramePr>
        <p:xfrm>
          <a:off x="311688" y="12008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{CEAAD6EF-BBF9-4C84-9E15-045BC64280EB}</a:tableStyleId>
              </a:tblPr>
              <a:tblGrid>
                <a:gridCol w="1220600"/>
                <a:gridCol w="3800150"/>
                <a:gridCol w="3638600"/>
              </a:tblGrid>
              <a:tr h="3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Fortalezas</a:t>
                      </a:r>
                      <a:endParaRPr b="1" sz="13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Debilidades</a:t>
                      </a:r>
                      <a:endParaRPr b="1" sz="13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1184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ClasApps</a:t>
                      </a:r>
                      <a:endParaRPr b="1"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En lo general es una app muy sencilla y fácil de usar.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Búsqueda rápida con gran variedad de filtros.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Interfaz muy intuitiva. Rapida forma de contactar.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Posibilidades de calificar a las personas que realizan el trabajo. Opción de sumar nuevas categorías de oficios e información de las personas que lo realizan.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Se puede denunciar a las personas que publiquen información falsa. </a:t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Poca cantidad de usuarios.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No se aprecian intenciones de escalar en otras ciudades.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La App no es muy conocida en el mercado.</a:t>
                      </a:r>
                      <a:endParaRPr sz="900"/>
                    </a:p>
                  </a:txBody>
                  <a:tcPr marT="91425" marB="91425" marR="91425" marL="91425" anchor="ctr"/>
                </a:tc>
              </a:tr>
              <a:tr h="141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Timbrit</a:t>
                      </a:r>
                      <a:endParaRPr b="1" sz="13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Ofrece la oportunidad de hacer un pedido de servicio y una cotización al respecto. Se puede  utilizar la plataforma como medio de pago.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Si bien se deben realizar muchos pasos para lograr un workflow con el usuario, se asegura la calidad de información y el entendimiento de las solicitudes.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Brinda la posibilidad de realizar acciones en redes sociales, sugerir amigos, entre otras. 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Cuenta con un espacio en la web, en caso de no querer instalar la app.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No se puede seleccionar a las personas que ofrecen los oficios, solo se crean solicitudes y se debe esperar a ser contactado.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La App manifiesta muchos errores, cuando uno de ellos se  presenta,  se interrumpe el funcionamiento,, ej nunca pude hacer el login con la vinculación con apple.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Al ofrecer un medio de pagos dentro de la app, requiere de muchos pasos de autenticación.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Se exhiben algunos banners que interceptan la navegación. 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553" y="2991650"/>
            <a:ext cx="385397" cy="37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550" y="1685566"/>
            <a:ext cx="385400" cy="373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-9600" y="8075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Arquetipos de personas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1895525" y="748425"/>
            <a:ext cx="2625600" cy="43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1884"/>
              <a:buFont typeface="Arial"/>
              <a:buNone/>
            </a:pPr>
            <a:r>
              <a:rPr b="1" lang="en" sz="1380"/>
              <a:t>Biografia. </a:t>
            </a:r>
            <a:endParaRPr b="1"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31884"/>
              <a:buFont typeface="Arial"/>
              <a:buNone/>
            </a:pPr>
            <a:r>
              <a:rPr lang="en" sz="1380"/>
              <a:t>Vive en las afueras de La Plata  con su familia. 2 Hijos. Casada. 43 años. Es profesional, vive en una casa con parque y 2 perros.  Le gusta practicar zumba e irse de vacaciones en septiembre.       Actualmente trabaja desde su casa por la pandemia.   Su vida está ligada al uso de la tecnología </a:t>
            </a:r>
            <a:endParaRPr b="1"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80"/>
              <a:t>Objetivo personal</a:t>
            </a:r>
            <a:endParaRPr b="1"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/>
              <a:t>Dar un buen futuro a sus hijos. Tener una vida saludable</a:t>
            </a:r>
            <a:endParaRPr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80"/>
              <a:t>Frustraciones</a:t>
            </a:r>
            <a:endParaRPr b="1"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/>
              <a:t>Inflación . El mantenimiento de su hogar. </a:t>
            </a:r>
            <a:endParaRPr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/>
              <a:t>La burocracia para trámites administrativos.</a:t>
            </a:r>
            <a:r>
              <a:rPr lang="en" sz="1380">
                <a:solidFill>
                  <a:srgbClr val="000000"/>
                </a:solidFill>
              </a:rPr>
              <a:t> </a:t>
            </a:r>
            <a:endParaRPr sz="138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80"/>
              <a:t>Motivaciones</a:t>
            </a:r>
            <a:endParaRPr b="1"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0"/>
              <a:t>Las cosas simples.Aprender nuevas cosas</a:t>
            </a:r>
            <a:endParaRPr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80"/>
              <a:t>Habilidades</a:t>
            </a:r>
            <a:endParaRPr b="1" sz="13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80"/>
              <a:t>Comunicación. Escuchar. Hablar nuevos idiomas. Facilidad para aprender a tocar instrumentos musicales</a:t>
            </a:r>
            <a:endParaRPr sz="1380"/>
          </a:p>
        </p:txBody>
      </p:sp>
      <p:sp>
        <p:nvSpPr>
          <p:cNvPr id="131" name="Google Shape;131;p20"/>
          <p:cNvSpPr txBox="1"/>
          <p:nvPr>
            <p:ph type="title"/>
          </p:nvPr>
        </p:nvSpPr>
        <p:spPr>
          <a:xfrm>
            <a:off x="311700" y="2491725"/>
            <a:ext cx="1829100" cy="7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2">
                <a:solidFill>
                  <a:srgbClr val="000000"/>
                </a:solidFill>
              </a:rPr>
              <a:t>Profesional</a:t>
            </a:r>
            <a:endParaRPr sz="1622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2">
                <a:solidFill>
                  <a:srgbClr val="000000"/>
                </a:solidFill>
              </a:rPr>
              <a:t>En relación de dependencia</a:t>
            </a:r>
            <a:endParaRPr sz="1622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2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 txBox="1"/>
          <p:nvPr/>
        </p:nvSpPr>
        <p:spPr>
          <a:xfrm>
            <a:off x="230350" y="3725575"/>
            <a:ext cx="16143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“La felicidad solo es real cuando es compartida”</a:t>
            </a:r>
            <a:endParaRPr/>
          </a:p>
        </p:txBody>
      </p:sp>
      <p:pic>
        <p:nvPicPr>
          <p:cNvPr id="133" name="Google Shape;133;p20"/>
          <p:cNvPicPr preferRelativeResize="0"/>
          <p:nvPr/>
        </p:nvPicPr>
        <p:blipFill rotWithShape="1">
          <a:blip r:embed="rId3">
            <a:alphaModFix/>
          </a:blip>
          <a:srcRect b="35099" l="11906" r="9558" t="0"/>
          <a:stretch/>
        </p:blipFill>
        <p:spPr>
          <a:xfrm>
            <a:off x="230350" y="824225"/>
            <a:ext cx="1413775" cy="159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>
            <p:ph type="title"/>
          </p:nvPr>
        </p:nvSpPr>
        <p:spPr>
          <a:xfrm>
            <a:off x="7519975" y="2503275"/>
            <a:ext cx="1614300" cy="7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2">
                <a:solidFill>
                  <a:srgbClr val="000000"/>
                </a:solidFill>
              </a:rPr>
              <a:t>Mecánico</a:t>
            </a:r>
            <a:endParaRPr sz="1622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2">
                <a:solidFill>
                  <a:srgbClr val="000000"/>
                </a:solidFill>
              </a:rPr>
              <a:t>Emprendedor</a:t>
            </a:r>
            <a:endParaRPr sz="1622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 txBox="1"/>
          <p:nvPr/>
        </p:nvSpPr>
        <p:spPr>
          <a:xfrm>
            <a:off x="4572000" y="748425"/>
            <a:ext cx="2897100" cy="42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B</a:t>
            </a:r>
            <a:r>
              <a:rPr b="1"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iografía</a:t>
            </a:r>
            <a:endParaRPr b="1" sz="8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Vive en La Plata en la casa de su abuela. Soltero. 32 años. Le gustan los fierros (automovilismo) y  tener una vida social activa. Suele practicar entrenamiento funcional.  Se lleva muy bien con las tecnologías.  Posee cuentas en varias redes sociales, tales como IG, FB  y otras.  </a:t>
            </a:r>
            <a:endParaRPr sz="8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Objetivo personal</a:t>
            </a:r>
            <a:endParaRPr b="1" sz="8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Contar con una propiedad propia. Crecer en su profesión</a:t>
            </a:r>
            <a:endParaRPr sz="8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Frustraciones</a:t>
            </a:r>
            <a:endParaRPr b="1" sz="8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La inflación y suba de precios.  Las quejas de los clientes</a:t>
            </a:r>
            <a:endParaRPr b="1" sz="8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Motivaciones</a:t>
            </a:r>
            <a:endParaRPr b="1" sz="8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Los autos. Viajar a la costa. La vida nocturna del fin de semana. Ir a recitales de rock </a:t>
            </a:r>
            <a:endParaRPr sz="8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Habilidades</a:t>
            </a:r>
            <a:endParaRPr b="1" sz="8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Excelente asador. Conducir autos y motos. Tocar la bateria.</a:t>
            </a:r>
            <a:endParaRPr sz="88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7519975" y="3725575"/>
            <a:ext cx="16143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8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“Vivir solo cuesta vida”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 rotWithShape="1">
          <a:blip r:embed="rId4">
            <a:alphaModFix/>
          </a:blip>
          <a:srcRect b="29493" l="0" r="0" t="0"/>
          <a:stretch/>
        </p:blipFill>
        <p:spPr>
          <a:xfrm>
            <a:off x="7519987" y="748417"/>
            <a:ext cx="1413775" cy="1557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/>
        </p:nvSpPr>
        <p:spPr>
          <a:xfrm>
            <a:off x="191400" y="4528125"/>
            <a:ext cx="876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https://whimsical.com/userflows-2-oficialista-5j7K1Gz9QndRvv1e8FSe7z@2Ux7TurymN7TphgXCQ8P</a:t>
            </a:r>
            <a:endParaRPr/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714675"/>
            <a:ext cx="8839195" cy="371414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>
            <p:ph idx="4294967295"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UserFlow - Persona que ofrece un oficio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/>
        </p:nvSpPr>
        <p:spPr>
          <a:xfrm>
            <a:off x="304800" y="4376025"/>
            <a:ext cx="8420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https://whimsical.com/userflows-2-usuario-JgiWH4SLPHNKdfsFgSsXxk@2Ux7TurymN84zfrUxb8T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92975"/>
            <a:ext cx="8839198" cy="377877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>
            <p:ph idx="4294967295" type="title"/>
          </p:nvPr>
        </p:nvSpPr>
        <p:spPr>
          <a:xfrm>
            <a:off x="0" y="110775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UserFlow - Persona que busca un oficio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0" y="1084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Arquitectura de la información</a:t>
            </a:r>
            <a:endParaRPr/>
          </a:p>
        </p:txBody>
      </p:sp>
      <p:pic>
        <p:nvPicPr>
          <p:cNvPr id="157" name="Google Shape;1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325" y="766175"/>
            <a:ext cx="7068402" cy="412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4"/>
          <p:cNvPicPr preferRelativeResize="0"/>
          <p:nvPr/>
        </p:nvPicPr>
        <p:blipFill rotWithShape="1">
          <a:blip r:embed="rId3">
            <a:alphaModFix/>
          </a:blip>
          <a:srcRect b="17346" l="3860" r="3786" t="24951"/>
          <a:stretch/>
        </p:blipFill>
        <p:spPr>
          <a:xfrm>
            <a:off x="0" y="1760250"/>
            <a:ext cx="5847398" cy="19425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 txBox="1"/>
          <p:nvPr>
            <p:ph type="title"/>
          </p:nvPr>
        </p:nvSpPr>
        <p:spPr>
          <a:xfrm>
            <a:off x="96275" y="30275"/>
            <a:ext cx="904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Cardsorting</a:t>
            </a:r>
            <a:endParaRPr/>
          </a:p>
        </p:txBody>
      </p:sp>
      <p:sp>
        <p:nvSpPr>
          <p:cNvPr id="164" name="Google Shape;164;p24"/>
          <p:cNvSpPr txBox="1"/>
          <p:nvPr/>
        </p:nvSpPr>
        <p:spPr>
          <a:xfrm>
            <a:off x="6220575" y="457200"/>
            <a:ext cx="2827800" cy="46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01600" marR="101600" rtl="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5722"/>
                </a:solidFill>
                <a:latin typeface="Alfa Slab One"/>
                <a:ea typeface="Alfa Slab One"/>
                <a:cs typeface="Alfa Slab One"/>
                <a:sym typeface="Alfa Slab One"/>
              </a:rPr>
              <a:t>70% de los resultados coincidieron en las siguientes categorías</a:t>
            </a:r>
            <a:endParaRPr b="1" sz="100">
              <a:solidFill>
                <a:srgbClr val="FF0000"/>
              </a:solidFill>
            </a:endParaRPr>
          </a:p>
          <a:p>
            <a:pPr indent="0" lvl="0" marL="101600" marR="1016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14141"/>
                </a:solidFill>
              </a:rPr>
              <a:t>Servicio</a:t>
            </a:r>
            <a:endParaRPr sz="950">
              <a:solidFill>
                <a:srgbClr val="414141"/>
              </a:solidFill>
            </a:endParaRPr>
          </a:p>
          <a:p>
            <a:pPr indent="-266700" lvl="0" marL="558800" marR="1016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14141"/>
              </a:buClr>
              <a:buSzPts val="600"/>
              <a:buChar char="●"/>
            </a:pPr>
            <a:r>
              <a:rPr lang="en" sz="600">
                <a:solidFill>
                  <a:srgbClr val="414141"/>
                </a:solidFill>
              </a:rPr>
              <a:t>Servicios</a:t>
            </a:r>
            <a:endParaRPr sz="600">
              <a:solidFill>
                <a:srgbClr val="414141"/>
              </a:solidFill>
            </a:endParaRPr>
          </a:p>
          <a:p>
            <a:pPr indent="-266700" lvl="0" marL="558800" marR="10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600"/>
              <a:buChar char="●"/>
            </a:pPr>
            <a:r>
              <a:rPr lang="en" sz="600">
                <a:solidFill>
                  <a:srgbClr val="414141"/>
                </a:solidFill>
              </a:rPr>
              <a:t>Buscar Oficio</a:t>
            </a:r>
            <a:endParaRPr sz="600">
              <a:solidFill>
                <a:srgbClr val="414141"/>
              </a:solidFill>
            </a:endParaRPr>
          </a:p>
          <a:p>
            <a:pPr indent="-266700" lvl="0" marL="558800" marR="10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600"/>
              <a:buChar char="●"/>
            </a:pPr>
            <a:r>
              <a:rPr lang="en" sz="600">
                <a:solidFill>
                  <a:srgbClr val="414141"/>
                </a:solidFill>
              </a:rPr>
              <a:t>Buscador</a:t>
            </a:r>
            <a:endParaRPr sz="60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Descripción de servicio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Rubro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Compartir en redes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Zona geografica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Recomendar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Calificar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Galeria de Fotos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Comentar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Horarios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Postear en redes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Consultar</a:t>
            </a:r>
            <a:endParaRPr sz="550">
              <a:solidFill>
                <a:srgbClr val="414141"/>
              </a:solidFill>
            </a:endParaRPr>
          </a:p>
          <a:p>
            <a:pPr indent="0" lvl="0" marL="101600" marR="101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14141"/>
                </a:solidFill>
              </a:rPr>
              <a:t>Perfil</a:t>
            </a:r>
            <a:endParaRPr sz="950">
              <a:solidFill>
                <a:srgbClr val="414141"/>
              </a:solidFill>
            </a:endParaRPr>
          </a:p>
          <a:p>
            <a:pPr indent="-266700" lvl="0" marL="558800" marR="1016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14141"/>
              </a:buClr>
              <a:buSzPts val="600"/>
              <a:buChar char="●"/>
            </a:pPr>
            <a:r>
              <a:rPr lang="en" sz="600">
                <a:solidFill>
                  <a:srgbClr val="414141"/>
                </a:solidFill>
              </a:rPr>
              <a:t>Mi perfil</a:t>
            </a:r>
            <a:endParaRPr sz="60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Nombre y Apellido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Email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Telefono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Ultimos Contactos</a:t>
            </a:r>
            <a:endParaRPr sz="550">
              <a:solidFill>
                <a:srgbClr val="414141"/>
              </a:solidFill>
            </a:endParaRPr>
          </a:p>
          <a:p>
            <a:pPr indent="0" lvl="0" marL="101600" marR="101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414141"/>
                </a:solidFill>
              </a:rPr>
              <a:t>Home</a:t>
            </a:r>
            <a:endParaRPr b="1" sz="9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Chat</a:t>
            </a:r>
            <a:endParaRPr sz="550">
              <a:solidFill>
                <a:srgbClr val="414141"/>
              </a:solidFill>
            </a:endParaRPr>
          </a:p>
          <a:p>
            <a:pPr indent="-263525" lvl="0" marL="5588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550"/>
              <a:buChar char="●"/>
            </a:pPr>
            <a:r>
              <a:rPr lang="en" sz="550">
                <a:solidFill>
                  <a:srgbClr val="414141"/>
                </a:solidFill>
              </a:rPr>
              <a:t>Ayuda</a:t>
            </a:r>
            <a:endParaRPr sz="550">
              <a:solidFill>
                <a:srgbClr val="414141"/>
              </a:solidFill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271300" y="1384050"/>
            <a:ext cx="24621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5722"/>
                </a:solidFill>
                <a:latin typeface="Alfa Slab One"/>
                <a:ea typeface="Alfa Slab One"/>
                <a:cs typeface="Alfa Slab One"/>
                <a:sym typeface="Alfa Slab One"/>
              </a:rPr>
              <a:t>Dendrograma</a:t>
            </a:r>
            <a:endParaRPr sz="3000">
              <a:solidFill>
                <a:srgbClr val="FF5722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