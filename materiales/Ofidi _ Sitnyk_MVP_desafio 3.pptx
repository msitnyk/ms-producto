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Proxima Nova"/>
      <p:regular r:id="rId14"/>
      <p:bold r:id="rId15"/>
      <p:italic r:id="rId16"/>
      <p:boldItalic r:id="rId17"/>
    </p:embeddedFont>
    <p:embeddedFont>
      <p:font typeface="Alfa Slab One"/>
      <p:regular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ProximaNova-bold.fntdata"/><Relationship Id="rId14" Type="http://schemas.openxmlformats.org/officeDocument/2006/relationships/font" Target="fonts/ProximaNova-regular.fntdata"/><Relationship Id="rId17" Type="http://schemas.openxmlformats.org/officeDocument/2006/relationships/font" Target="fonts/ProximaNova-boldItalic.fntdata"/><Relationship Id="rId16" Type="http://schemas.openxmlformats.org/officeDocument/2006/relationships/font" Target="fonts/ProximaNova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font" Target="fonts/AlfaSlabOne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c6f80d1ff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gc6f80d1f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b57caee46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b57caee46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b57caee465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b57caee465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78b7dacdef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78b7dacdef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b8deca7ad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b8deca7ad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b8deca7ad3_0_6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b8deca7ad3_0_6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b8e7dd7dcf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b8e7dd7dcf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b8e7dd7dcf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b8e7dd7dcf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4278300" y="2751163"/>
            <a:ext cx="587400" cy="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595975"/>
            <a:ext cx="8520600" cy="195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3165823"/>
            <a:ext cx="8520600" cy="73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311700" y="2480550"/>
            <a:ext cx="8114400" cy="2445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311700" y="6318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311700" y="1490875"/>
            <a:ext cx="2808000" cy="307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490250" y="526350"/>
            <a:ext cx="5683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4572000" y="10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8" name="Google Shape;38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" name="Google Shape;39;p9"/>
          <p:cNvSpPr txBox="1"/>
          <p:nvPr>
            <p:ph type="title"/>
          </p:nvPr>
        </p:nvSpPr>
        <p:spPr>
          <a:xfrm>
            <a:off x="265500" y="1375599"/>
            <a:ext cx="4045200" cy="155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40" name="Google Shape;40;p9"/>
          <p:cNvSpPr txBox="1"/>
          <p:nvPr>
            <p:ph idx="1" type="subTitle"/>
          </p:nvPr>
        </p:nvSpPr>
        <p:spPr>
          <a:xfrm>
            <a:off x="265500" y="2981125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" name="Google Shape;41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2" name="Google Shape;42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/>
          <p:nvPr>
            <p:ph idx="1" type="body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lfa Slab One"/>
              <a:buNone/>
              <a:defRPr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1pPr>
          </a:lstStyle>
          <a:p/>
        </p:txBody>
      </p:sp>
      <p:sp>
        <p:nvSpPr>
          <p:cNvPr id="45" name="Google Shape;45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/>
          <p:nvPr>
            <p:ph hasCustomPrompt="1" type="title"/>
          </p:nvPr>
        </p:nvSpPr>
        <p:spPr>
          <a:xfrm>
            <a:off x="311700" y="1167925"/>
            <a:ext cx="8520600" cy="198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8" name="Google Shape;48;p11"/>
          <p:cNvSpPr txBox="1"/>
          <p:nvPr>
            <p:ph idx="1" type="body"/>
          </p:nvPr>
        </p:nvSpPr>
        <p:spPr>
          <a:xfrm>
            <a:off x="311700" y="322425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ameday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roxima Nova"/>
              <a:buChar char="●"/>
              <a:defRPr sz="18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●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●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/>
          <p:nvPr>
            <p:ph type="ctrTitle"/>
          </p:nvPr>
        </p:nvSpPr>
        <p:spPr>
          <a:xfrm>
            <a:off x="2856900" y="4410000"/>
            <a:ext cx="62871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Martin Sitnyk- Curso UX UI 2021</a:t>
            </a:r>
            <a:endParaRPr sz="1400"/>
          </a:p>
        </p:txBody>
      </p:sp>
      <p:sp>
        <p:nvSpPr>
          <p:cNvPr id="57" name="Google Shape;57;p13"/>
          <p:cNvSpPr txBox="1"/>
          <p:nvPr>
            <p:ph idx="1" type="subTitle"/>
          </p:nvPr>
        </p:nvSpPr>
        <p:spPr>
          <a:xfrm>
            <a:off x="311700" y="3165823"/>
            <a:ext cx="8520600" cy="73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Oficios Diversos</a:t>
            </a:r>
            <a:endParaRPr/>
          </a:p>
        </p:txBody>
      </p:sp>
      <p:pic>
        <p:nvPicPr>
          <p:cNvPr id="58" name="Google Shape;58;p13"/>
          <p:cNvPicPr preferRelativeResize="0"/>
          <p:nvPr/>
        </p:nvPicPr>
        <p:blipFill rotWithShape="1">
          <a:blip r:embed="rId3">
            <a:alphaModFix/>
          </a:blip>
          <a:srcRect b="19737" l="0" r="0" t="0"/>
          <a:stretch/>
        </p:blipFill>
        <p:spPr>
          <a:xfrm>
            <a:off x="3253850" y="1315750"/>
            <a:ext cx="2768851" cy="1159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>
            <p:ph type="title"/>
          </p:nvPr>
        </p:nvSpPr>
        <p:spPr>
          <a:xfrm>
            <a:off x="490250" y="526350"/>
            <a:ext cx="5683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MVP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Version Lanzamiento</a:t>
            </a:r>
            <a:endParaRPr/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1700" y="1152475"/>
            <a:ext cx="4185600" cy="263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47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50">
                <a:solidFill>
                  <a:srgbClr val="DD7E6B"/>
                </a:solidFill>
              </a:rPr>
              <a:t>Buscar un servicio</a:t>
            </a:r>
            <a:endParaRPr b="1" sz="3250">
              <a:solidFill>
                <a:srgbClr val="DD7E6B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3250"/>
              <a:t>Usuario que quiere contratar un oficio</a:t>
            </a:r>
            <a:endParaRPr b="1" sz="3250"/>
          </a:p>
          <a:p>
            <a:pPr indent="-326628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 sz="3250"/>
              <a:t>Ingresar a la app utilizando mi correo electrónico</a:t>
            </a:r>
            <a:endParaRPr sz="3250"/>
          </a:p>
          <a:p>
            <a:pPr indent="-3266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3250"/>
              <a:t>Buscar por rubro</a:t>
            </a:r>
            <a:endParaRPr sz="3250"/>
          </a:p>
          <a:p>
            <a:pPr indent="-3266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3250"/>
              <a:t>Ver perfil del personal a contratar</a:t>
            </a:r>
            <a:endParaRPr sz="325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15"/>
          <p:cNvSpPr txBox="1"/>
          <p:nvPr>
            <p:ph idx="1" type="body"/>
          </p:nvPr>
        </p:nvSpPr>
        <p:spPr>
          <a:xfrm>
            <a:off x="4754400" y="1152475"/>
            <a:ext cx="4077900" cy="285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DD7E6B"/>
                </a:solidFill>
              </a:rPr>
              <a:t>Publicar un servicio</a:t>
            </a:r>
            <a:endParaRPr b="1" sz="1500">
              <a:solidFill>
                <a:srgbClr val="DD7E6B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/>
              <a:t>Usuario que ofrece un servicio</a:t>
            </a:r>
            <a:endParaRPr b="1" sz="1500"/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Ingreso a la app utilizando mi celular y correo </a:t>
            </a:r>
            <a:r>
              <a:rPr lang="en" sz="1500"/>
              <a:t>electrónico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Describir perfil personal con  las descripción del servicio a ofrecer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Publicar oficio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5"/>
          <p:cNvSpPr txBox="1"/>
          <p:nvPr>
            <p:ph idx="1" type="body"/>
          </p:nvPr>
        </p:nvSpPr>
        <p:spPr>
          <a:xfrm>
            <a:off x="311700" y="3243750"/>
            <a:ext cx="4185600" cy="180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6">
                <a:solidFill>
                  <a:srgbClr val="DD7E6B"/>
                </a:solidFill>
              </a:rPr>
              <a:t>Contactar un servicio</a:t>
            </a:r>
            <a:endParaRPr b="1" sz="1506">
              <a:solidFill>
                <a:srgbClr val="DD7E6B"/>
              </a:solidFill>
            </a:endParaRPr>
          </a:p>
          <a:p>
            <a:pPr indent="-324211" lvl="0" marL="457200" rtl="0" algn="l">
              <a:spcBef>
                <a:spcPts val="1200"/>
              </a:spcBef>
              <a:spcAft>
                <a:spcPts val="0"/>
              </a:spcAft>
              <a:buSzPts val="1506"/>
              <a:buChar char="●"/>
            </a:pPr>
            <a:r>
              <a:rPr lang="en" sz="1506"/>
              <a:t>Contactar mediante el celular publicado en su perfil</a:t>
            </a:r>
            <a:endParaRPr sz="1506"/>
          </a:p>
          <a:p>
            <a:pPr indent="-324211" lvl="0" marL="457200" rtl="0" algn="l">
              <a:spcBef>
                <a:spcPts val="0"/>
              </a:spcBef>
              <a:spcAft>
                <a:spcPts val="0"/>
              </a:spcAft>
              <a:buSzPts val="1506"/>
              <a:buChar char="●"/>
            </a:pPr>
            <a:r>
              <a:rPr lang="en" sz="1506"/>
              <a:t>Calificar luego del contacto</a:t>
            </a:r>
            <a:endParaRPr sz="1506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>
            <p:ph type="title"/>
          </p:nvPr>
        </p:nvSpPr>
        <p:spPr>
          <a:xfrm>
            <a:off x="164100" y="4046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Herramientas utilizadas</a:t>
            </a:r>
            <a:endParaRPr/>
          </a:p>
        </p:txBody>
      </p:sp>
      <p:sp>
        <p:nvSpPr>
          <p:cNvPr id="77" name="Google Shape;77;p16"/>
          <p:cNvSpPr txBox="1"/>
          <p:nvPr>
            <p:ph idx="1" type="body"/>
          </p:nvPr>
        </p:nvSpPr>
        <p:spPr>
          <a:xfrm>
            <a:off x="164100" y="977325"/>
            <a:ext cx="8815800" cy="348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t/>
            </a:r>
            <a:endParaRPr b="1" sz="1395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t/>
            </a:r>
            <a:endParaRPr b="1" sz="1395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rPr lang="en" sz="1395"/>
              <a:t>Para la creación de nuestro MVP  vamos a utilizar la </a:t>
            </a:r>
            <a:r>
              <a:rPr lang="en" sz="1395"/>
              <a:t>técnica</a:t>
            </a:r>
            <a:r>
              <a:rPr lang="en" sz="1395"/>
              <a:t> de Jeff Patton llamada “user story mapping”(*).</a:t>
            </a:r>
            <a:endParaRPr sz="1395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rPr lang="en" sz="1395"/>
              <a:t>Utilizaremos dos </a:t>
            </a:r>
            <a:r>
              <a:rPr lang="en" sz="1395"/>
              <a:t> arquetipos con sus respectivos Customers Journeys.</a:t>
            </a:r>
            <a:endParaRPr sz="1395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t/>
            </a:r>
            <a:endParaRPr sz="1395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t/>
            </a:r>
            <a:endParaRPr sz="1395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395"/>
          </a:p>
        </p:txBody>
      </p:sp>
      <p:sp>
        <p:nvSpPr>
          <p:cNvPr id="78" name="Google Shape;78;p16"/>
          <p:cNvSpPr txBox="1"/>
          <p:nvPr/>
        </p:nvSpPr>
        <p:spPr>
          <a:xfrm>
            <a:off x="269300" y="4460925"/>
            <a:ext cx="6584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(*) </a:t>
            </a:r>
            <a:r>
              <a:rPr lang="en"/>
              <a:t>https://www.jpattonassociates.com/user-story-mapping/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Customer Journey - Ana</a:t>
            </a:r>
            <a:endParaRPr/>
          </a:p>
        </p:txBody>
      </p:sp>
      <p:pic>
        <p:nvPicPr>
          <p:cNvPr id="84" name="Google Shape;8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00138" y="1017725"/>
            <a:ext cx="6943725" cy="21717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7"/>
          <p:cNvSpPr txBox="1"/>
          <p:nvPr>
            <p:ph idx="1" type="body"/>
          </p:nvPr>
        </p:nvSpPr>
        <p:spPr>
          <a:xfrm>
            <a:off x="190525" y="3252000"/>
            <a:ext cx="8520600" cy="189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1500"/>
              <a:t>Ana</a:t>
            </a:r>
            <a:r>
              <a:rPr lang="en" sz="1500"/>
              <a:t> es una profesional que vive en una casa con su familia conformada por su marido y dos hijos . Trabaja en relación de dependencia en capital Federal. Vive en un hogar grande con parque.Ella  </a:t>
            </a:r>
            <a:r>
              <a:rPr b="1" lang="en" sz="1500"/>
              <a:t>necesita</a:t>
            </a:r>
            <a:r>
              <a:rPr lang="en" sz="1500"/>
              <a:t> contactar a personas recomendadas  que realicen ciertos oficios </a:t>
            </a:r>
            <a:r>
              <a:rPr b="1" lang="en" sz="1500"/>
              <a:t>para poder</a:t>
            </a:r>
            <a:r>
              <a:rPr lang="en" sz="1500"/>
              <a:t> mantener su casa o repararla en aquellos momentos que la misma sufra modificaciones y/o averías. </a:t>
            </a:r>
            <a:endParaRPr sz="15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2" name="Google Shape;92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8150" y="52275"/>
            <a:ext cx="8767697" cy="5038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Customer Journey - Marito</a:t>
            </a:r>
            <a:endParaRPr/>
          </a:p>
        </p:txBody>
      </p:sp>
      <p:pic>
        <p:nvPicPr>
          <p:cNvPr id="98" name="Google Shape;9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00125" y="1152475"/>
            <a:ext cx="6943725" cy="21336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107725" y="3622000"/>
            <a:ext cx="9036300" cy="155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1500"/>
              <a:t>Marito </a:t>
            </a:r>
            <a:r>
              <a:rPr lang="en" sz="1500"/>
              <a:t>es un emprendedor, que realiza trabajos como mecánico de auto</a:t>
            </a:r>
            <a:r>
              <a:rPr lang="en" sz="1500"/>
              <a:t>s desde ya hace unos años. El </a:t>
            </a:r>
            <a:r>
              <a:rPr b="1" lang="en" sz="1500"/>
              <a:t>necesita</a:t>
            </a:r>
            <a:r>
              <a:rPr lang="en" sz="1500"/>
              <a:t> que las personas  lo busquen y lo  encuentren por internet para que vean  sus  trabajos realizados, sus nuevos servicios, las recomendaciones y ser contactado </a:t>
            </a:r>
            <a:r>
              <a:rPr b="1" lang="en" sz="1500"/>
              <a:t>a fin de poder</a:t>
            </a:r>
            <a:r>
              <a:rPr lang="en" sz="1500"/>
              <a:t> agrandar la cartera de clientes. </a:t>
            </a:r>
            <a:endParaRPr sz="15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60225" y="0"/>
            <a:ext cx="6411119" cy="48386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ameday">
  <a:themeElements>
    <a:clrScheme name="Gameday">
      <a:dk1>
        <a:srgbClr val="4285F4"/>
      </a:dk1>
      <a:lt1>
        <a:srgbClr val="FFFFFF"/>
      </a:lt1>
      <a:dk2>
        <a:srgbClr val="666666"/>
      </a:dk2>
      <a:lt2>
        <a:srgbClr val="D9D9D9"/>
      </a:lt2>
      <a:accent1>
        <a:srgbClr val="455A64"/>
      </a:accent1>
      <a:accent2>
        <a:srgbClr val="607D8B"/>
      </a:accent2>
      <a:accent3>
        <a:srgbClr val="FF5722"/>
      </a:accent3>
      <a:accent4>
        <a:srgbClr val="D84315"/>
      </a:accent4>
      <a:accent5>
        <a:srgbClr val="1C3AA9"/>
      </a:accent5>
      <a:accent6>
        <a:srgbClr val="FFAB40"/>
      </a:accent6>
      <a:hlink>
        <a:srgbClr val="1C3AA9"/>
      </a:hlink>
      <a:folHlink>
        <a:srgbClr val="1C3AA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