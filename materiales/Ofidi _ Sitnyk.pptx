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roxima Nova"/>
      <p:regular r:id="rId17"/>
      <p:bold r:id="rId18"/>
      <p:italic r:id="rId19"/>
      <p:boldItalic r:id="rId20"/>
    </p:embeddedFont>
    <p:embeddedFont>
      <p:font typeface="Roboto"/>
      <p:regular r:id="rId21"/>
      <p:bold r:id="rId22"/>
      <p:italic r:id="rId23"/>
      <p:boldItalic r:id="rId24"/>
    </p:embeddedFont>
    <p:embeddedFont>
      <p:font typeface="Source Code Pro"/>
      <p:regular r:id="rId25"/>
      <p:bold r:id="rId26"/>
      <p:italic r:id="rId27"/>
      <p:boldItalic r:id="rId28"/>
    </p:embeddedFont>
    <p:embeddedFont>
      <p:font typeface="Alfa Slab One"/>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CodePro-bold.fntdata"/><Relationship Id="rId25" Type="http://schemas.openxmlformats.org/officeDocument/2006/relationships/font" Target="fonts/SourceCodePro-regular.fntdata"/><Relationship Id="rId28" Type="http://schemas.openxmlformats.org/officeDocument/2006/relationships/font" Target="fonts/SourceCodePro-boldItalic.fntdata"/><Relationship Id="rId27"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faSlabOne-regular.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regular.fntdata"/><Relationship Id="rId16" Type="http://schemas.openxmlformats.org/officeDocument/2006/relationships/slide" Target="slides/slide11.xml"/><Relationship Id="rId19" Type="http://schemas.openxmlformats.org/officeDocument/2006/relationships/font" Target="fonts/ProximaNova-italic.fntdata"/><Relationship Id="rId18" Type="http://schemas.openxmlformats.org/officeDocument/2006/relationships/font" Target="fonts/ProximaNov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c6f80d1f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c6f80d1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c6f80d1f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c6f80d1f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78b7dacde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78b7dacde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78b7dacd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78b7dacd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6f80d1ff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c6f80d1f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78c21670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78c21670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78c216708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78c216708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78c216708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78c216708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78c216708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78c216708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78c216708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78c216708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78c216708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78c216708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hyperlink" Target="https://www.lanacion.com.ar/economia/una-plataforma-de-internet-para-contratar-trabajadores-de-oficios-nid1680504" TargetMode="External"/><Relationship Id="rId4" Type="http://schemas.openxmlformats.org/officeDocument/2006/relationships/hyperlink" Target="https://www.lanacion.com.ar/economia/el-argentino-que-termino-el-colegio-a-los-15-anos-y-tras-fracasar-con-un-negocio-creo-una-empresa-elogiada-por-harvard-nid2026653" TargetMode="External"/><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2856900" y="4410000"/>
            <a:ext cx="6287100" cy="733500"/>
          </a:xfrm>
          <a:prstGeom prst="rect">
            <a:avLst/>
          </a:prstGeom>
        </p:spPr>
        <p:txBody>
          <a:bodyPr anchorCtr="0" anchor="b" bIns="91425" lIns="91425" spcFirstLastPara="1" rIns="91425" wrap="square" tIns="91425">
            <a:normAutofit/>
          </a:bodyPr>
          <a:lstStyle/>
          <a:p>
            <a:pPr indent="0" lvl="0" marL="0" rtl="0" algn="r">
              <a:spcBef>
                <a:spcPts val="0"/>
              </a:spcBef>
              <a:spcAft>
                <a:spcPts val="0"/>
              </a:spcAft>
              <a:buNone/>
            </a:pPr>
            <a:r>
              <a:rPr lang="en" sz="1600"/>
              <a:t>Martin Sitnyk- Curso UX UI 2021</a:t>
            </a:r>
            <a:endParaRPr sz="1400"/>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Oficios Diversos</a:t>
            </a:r>
            <a:endParaRPr/>
          </a:p>
        </p:txBody>
      </p:sp>
      <p:pic>
        <p:nvPicPr>
          <p:cNvPr id="58" name="Google Shape;58;p13"/>
          <p:cNvPicPr preferRelativeResize="0"/>
          <p:nvPr/>
        </p:nvPicPr>
        <p:blipFill rotWithShape="1">
          <a:blip r:embed="rId3">
            <a:alphaModFix/>
          </a:blip>
          <a:srcRect b="19737" l="0" r="0" t="0"/>
          <a:stretch/>
        </p:blipFill>
        <p:spPr>
          <a:xfrm>
            <a:off x="3253850" y="1315750"/>
            <a:ext cx="2768851" cy="11598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Sabías que…. </a:t>
            </a:r>
            <a:endParaRPr/>
          </a:p>
        </p:txBody>
      </p:sp>
      <p:sp>
        <p:nvSpPr>
          <p:cNvPr id="64" name="Google Shape;64;p14"/>
          <p:cNvSpPr txBox="1"/>
          <p:nvPr>
            <p:ph idx="1" type="body"/>
          </p:nvPr>
        </p:nvSpPr>
        <p:spPr>
          <a:xfrm>
            <a:off x="311700" y="1152475"/>
            <a:ext cx="8520600" cy="3116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-Unos de los principales gastos de una vivienda (casa o departamento) son los de mantenimientos</a:t>
            </a:r>
            <a:endParaRPr/>
          </a:p>
          <a:p>
            <a:pPr indent="0" lvl="0" marL="0" rtl="0" algn="l">
              <a:spcBef>
                <a:spcPts val="1200"/>
              </a:spcBef>
              <a:spcAft>
                <a:spcPts val="0"/>
              </a:spcAft>
              <a:buNone/>
            </a:pPr>
            <a:r>
              <a:rPr lang="en"/>
              <a:t>-Los oficios más buscados durante el 2020 fueron: electricistas, albañiles y pileteros</a:t>
            </a:r>
            <a:endParaRPr/>
          </a:p>
          <a:p>
            <a:pPr indent="0" lvl="0" marL="0" rtl="0" algn="l">
              <a:spcBef>
                <a:spcPts val="1200"/>
              </a:spcBef>
              <a:spcAft>
                <a:spcPts val="0"/>
              </a:spcAft>
              <a:buNone/>
            </a:pPr>
            <a:r>
              <a:rPr lang="en"/>
              <a:t>-Las recomendaciones </a:t>
            </a:r>
            <a:r>
              <a:rPr lang="en"/>
              <a:t>más</a:t>
            </a:r>
            <a:r>
              <a:rPr lang="en"/>
              <a:t> utilizadas para elegir una persona que </a:t>
            </a:r>
            <a:r>
              <a:rPr lang="en"/>
              <a:t>realice</a:t>
            </a:r>
            <a:r>
              <a:rPr lang="en"/>
              <a:t> un oficio son: el</a:t>
            </a:r>
            <a:r>
              <a:rPr lang="en"/>
              <a:t> boca en boca (</a:t>
            </a:r>
            <a:r>
              <a:rPr lang="en"/>
              <a:t>Recomendación, referencias</a:t>
            </a:r>
            <a:r>
              <a:rPr lang="en"/>
              <a:t> de  amigos y familiares), el presupuesto, la experiencia, la cercanía, entre otros.</a:t>
            </a:r>
            <a:endParaRPr/>
          </a:p>
          <a:p>
            <a:pPr indent="0" lvl="0" marL="0" rtl="0" algn="l">
              <a:spcBef>
                <a:spcPts val="1200"/>
              </a:spcBef>
              <a:spcAft>
                <a:spcPts val="1200"/>
              </a:spcAft>
              <a:buNone/>
            </a:pPr>
            <a:r>
              <a:t/>
            </a:r>
            <a:endParaRPr/>
          </a:p>
        </p:txBody>
      </p:sp>
      <p:sp>
        <p:nvSpPr>
          <p:cNvPr id="65" name="Google Shape;65;p14"/>
          <p:cNvSpPr txBox="1"/>
          <p:nvPr>
            <p:ph idx="1" type="body"/>
          </p:nvPr>
        </p:nvSpPr>
        <p:spPr>
          <a:xfrm>
            <a:off x="311700" y="4419750"/>
            <a:ext cx="8520600" cy="64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Fuentes: Google.com, housell.com, diarios locales, trends google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162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OFIDI</a:t>
            </a:r>
            <a:endParaRPr/>
          </a:p>
        </p:txBody>
      </p:sp>
      <p:sp>
        <p:nvSpPr>
          <p:cNvPr id="71" name="Google Shape;71;p15"/>
          <p:cNvSpPr txBox="1"/>
          <p:nvPr>
            <p:ph idx="1" type="body"/>
          </p:nvPr>
        </p:nvSpPr>
        <p:spPr>
          <a:xfrm>
            <a:off x="70775" y="734950"/>
            <a:ext cx="3245700" cy="3483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018"/>
              <a:buNone/>
            </a:pPr>
            <a:r>
              <a:rPr b="1" lang="en" sz="1395"/>
              <a:t>Problemáticas</a:t>
            </a:r>
            <a:endParaRPr b="1" sz="1395"/>
          </a:p>
          <a:p>
            <a:pPr indent="0" lvl="0" marL="0" rtl="0" algn="l">
              <a:lnSpc>
                <a:spcPct val="105000"/>
              </a:lnSpc>
              <a:spcBef>
                <a:spcPts val="1200"/>
              </a:spcBef>
              <a:spcAft>
                <a:spcPts val="0"/>
              </a:spcAft>
              <a:buSzPts val="1018"/>
              <a:buNone/>
            </a:pPr>
            <a:r>
              <a:rPr lang="en" sz="1395"/>
              <a:t>Encontrar de una manera sencilla a personas que realicen oficios(*) de forma centralizada. Muchas de estas </a:t>
            </a:r>
            <a:r>
              <a:rPr lang="en" sz="1395"/>
              <a:t>búsquedas</a:t>
            </a:r>
            <a:r>
              <a:rPr lang="en" sz="1395"/>
              <a:t> se basan en reputaciones y recomendaciones mediante conocidos. El método de recomendación </a:t>
            </a:r>
            <a:r>
              <a:rPr lang="en" sz="1395"/>
              <a:t>más</a:t>
            </a:r>
            <a:r>
              <a:rPr lang="en" sz="1395"/>
              <a:t> utilizado es </a:t>
            </a:r>
            <a:r>
              <a:rPr lang="en" sz="1395"/>
              <a:t>el</a:t>
            </a:r>
            <a:r>
              <a:rPr lang="en" sz="1395"/>
              <a:t> “</a:t>
            </a:r>
            <a:r>
              <a:rPr b="1" i="1" lang="en" sz="1395"/>
              <a:t>boca en boca</a:t>
            </a:r>
            <a:r>
              <a:rPr lang="en" sz="1395"/>
              <a:t>”. Estos oficios quizás no </a:t>
            </a:r>
            <a:r>
              <a:rPr lang="en" sz="1395"/>
              <a:t>están</a:t>
            </a:r>
            <a:r>
              <a:rPr lang="en" sz="1395"/>
              <a:t> familiarizados con el </a:t>
            </a:r>
            <a:r>
              <a:rPr lang="en" sz="1395"/>
              <a:t>ámbito</a:t>
            </a:r>
            <a:r>
              <a:rPr lang="en" sz="1395"/>
              <a:t> digital o </a:t>
            </a:r>
            <a:r>
              <a:rPr lang="en" sz="1395"/>
              <a:t>tecnológico</a:t>
            </a:r>
            <a:r>
              <a:rPr lang="en" sz="1395"/>
              <a:t>. </a:t>
            </a:r>
            <a:endParaRPr sz="1395"/>
          </a:p>
          <a:p>
            <a:pPr indent="0" lvl="0" marL="0" rtl="0" algn="l">
              <a:lnSpc>
                <a:spcPct val="105000"/>
              </a:lnSpc>
              <a:spcBef>
                <a:spcPts val="1200"/>
              </a:spcBef>
              <a:spcAft>
                <a:spcPts val="1200"/>
              </a:spcAft>
              <a:buSzPts val="1018"/>
              <a:buNone/>
            </a:pPr>
            <a:r>
              <a:rPr lang="en" sz="1395"/>
              <a:t>Se detectan aplicaciones similares en el mercado, las cuales ofrecen un contacto continuo con la </a:t>
            </a:r>
            <a:r>
              <a:rPr lang="en" sz="1395"/>
              <a:t>tecnología o la aplicación.</a:t>
            </a:r>
            <a:r>
              <a:rPr lang="en" sz="1395"/>
              <a:t> </a:t>
            </a:r>
            <a:endParaRPr sz="1395"/>
          </a:p>
        </p:txBody>
      </p:sp>
      <p:sp>
        <p:nvSpPr>
          <p:cNvPr id="72" name="Google Shape;72;p15"/>
          <p:cNvSpPr txBox="1"/>
          <p:nvPr>
            <p:ph idx="2" type="body"/>
          </p:nvPr>
        </p:nvSpPr>
        <p:spPr>
          <a:xfrm>
            <a:off x="3375663" y="768550"/>
            <a:ext cx="2802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Objetivos</a:t>
            </a:r>
            <a:endParaRPr b="1"/>
          </a:p>
          <a:p>
            <a:pPr indent="0" lvl="0" marL="0" rtl="0" algn="l">
              <a:spcBef>
                <a:spcPts val="1200"/>
              </a:spcBef>
              <a:spcAft>
                <a:spcPts val="0"/>
              </a:spcAft>
              <a:buNone/>
            </a:pPr>
            <a:r>
              <a:rPr lang="en"/>
              <a:t>Brindar una opción para facilitar la búsquedas </a:t>
            </a:r>
            <a:r>
              <a:rPr lang="en"/>
              <a:t>de personas</a:t>
            </a:r>
            <a:r>
              <a:rPr lang="en"/>
              <a:t> que realizan un oficio. </a:t>
            </a:r>
            <a:endParaRPr/>
          </a:p>
          <a:p>
            <a:pPr indent="0" lvl="0" marL="0" rtl="0" algn="l">
              <a:spcBef>
                <a:spcPts val="1200"/>
              </a:spcBef>
              <a:spcAft>
                <a:spcPts val="0"/>
              </a:spcAft>
              <a:buNone/>
            </a:pPr>
            <a:r>
              <a:rPr lang="en"/>
              <a:t>Ofrecer un medio para que estos </a:t>
            </a:r>
            <a:r>
              <a:rPr lang="en"/>
              <a:t>últimos</a:t>
            </a:r>
            <a:r>
              <a:rPr lang="en"/>
              <a:t> puedan ser conocidos mediante su reputación. </a:t>
            </a:r>
            <a:endParaRPr/>
          </a:p>
          <a:p>
            <a:pPr indent="0" lvl="0" marL="0" rtl="0" algn="l">
              <a:spcBef>
                <a:spcPts val="1200"/>
              </a:spcBef>
              <a:spcAft>
                <a:spcPts val="0"/>
              </a:spcAft>
              <a:buNone/>
            </a:pPr>
            <a:r>
              <a:t/>
            </a:r>
            <a:endParaRPr b="1"/>
          </a:p>
          <a:p>
            <a:pPr indent="0" lvl="0" marL="0" rtl="0" algn="l">
              <a:spcBef>
                <a:spcPts val="1200"/>
              </a:spcBef>
              <a:spcAft>
                <a:spcPts val="1200"/>
              </a:spcAft>
              <a:buNone/>
            </a:pPr>
            <a:r>
              <a:t/>
            </a:r>
            <a:endParaRPr/>
          </a:p>
        </p:txBody>
      </p:sp>
      <p:sp>
        <p:nvSpPr>
          <p:cNvPr id="73" name="Google Shape;73;p15"/>
          <p:cNvSpPr txBox="1"/>
          <p:nvPr>
            <p:ph idx="1" type="body"/>
          </p:nvPr>
        </p:nvSpPr>
        <p:spPr>
          <a:xfrm>
            <a:off x="0" y="4606900"/>
            <a:ext cx="9144000" cy="379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850"/>
              <a:t>(*)Oficios: albañiles, plomeros, gasistas, herreros, cerrajeros, </a:t>
            </a:r>
            <a:r>
              <a:rPr lang="en" sz="850"/>
              <a:t>mecánicos</a:t>
            </a:r>
            <a:r>
              <a:rPr lang="en" sz="850"/>
              <a:t>, parqueros, electricistas, entre otros.</a:t>
            </a:r>
            <a:endParaRPr sz="850"/>
          </a:p>
          <a:p>
            <a:pPr indent="0" lvl="0" marL="0" rtl="0" algn="l">
              <a:lnSpc>
                <a:spcPct val="95000"/>
              </a:lnSpc>
              <a:spcBef>
                <a:spcPts val="1200"/>
              </a:spcBef>
              <a:spcAft>
                <a:spcPts val="0"/>
              </a:spcAft>
              <a:buSzPts val="275"/>
              <a:buNone/>
            </a:pPr>
            <a:r>
              <a:rPr lang="en" sz="850"/>
              <a:t>(**) Vale aclarar la solución </a:t>
            </a:r>
            <a:r>
              <a:rPr lang="en" sz="850"/>
              <a:t>está</a:t>
            </a:r>
            <a:r>
              <a:rPr lang="en" sz="850"/>
              <a:t> pensando en un principio para la ciudad de La Plata. </a:t>
            </a:r>
            <a:endParaRPr sz="850"/>
          </a:p>
          <a:p>
            <a:pPr indent="0" lvl="0" marL="0" rtl="0" algn="l">
              <a:lnSpc>
                <a:spcPct val="95000"/>
              </a:lnSpc>
              <a:spcBef>
                <a:spcPts val="1200"/>
              </a:spcBef>
              <a:spcAft>
                <a:spcPts val="1200"/>
              </a:spcAft>
              <a:buSzPts val="275"/>
              <a:buNone/>
            </a:pPr>
            <a:r>
              <a:rPr lang="en" sz="850"/>
              <a:t> </a:t>
            </a:r>
            <a:r>
              <a:rPr lang="en" sz="850"/>
              <a:t> </a:t>
            </a:r>
            <a:endParaRPr sz="850"/>
          </a:p>
        </p:txBody>
      </p:sp>
      <p:sp>
        <p:nvSpPr>
          <p:cNvPr id="74" name="Google Shape;74;p15"/>
          <p:cNvSpPr txBox="1"/>
          <p:nvPr>
            <p:ph idx="2" type="body"/>
          </p:nvPr>
        </p:nvSpPr>
        <p:spPr>
          <a:xfrm>
            <a:off x="6236875" y="768550"/>
            <a:ext cx="2802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Solución (**)</a:t>
            </a:r>
            <a:endParaRPr b="1"/>
          </a:p>
          <a:p>
            <a:pPr indent="0" lvl="0" marL="0" rtl="0" algn="l">
              <a:spcBef>
                <a:spcPts val="1200"/>
              </a:spcBef>
              <a:spcAft>
                <a:spcPts val="0"/>
              </a:spcAft>
              <a:buNone/>
            </a:pPr>
            <a:r>
              <a:rPr lang="en" u="sng"/>
              <a:t>Para la persona que busca</a:t>
            </a:r>
            <a:r>
              <a:rPr lang="en"/>
              <a:t>:</a:t>
            </a:r>
            <a:endParaRPr/>
          </a:p>
          <a:p>
            <a:pPr indent="0" lvl="0" marL="0" rtl="0" algn="l">
              <a:spcBef>
                <a:spcPts val="1200"/>
              </a:spcBef>
              <a:spcAft>
                <a:spcPts val="0"/>
              </a:spcAft>
              <a:buNone/>
            </a:pPr>
            <a:r>
              <a:rPr lang="en"/>
              <a:t>Encontrar y contactar de una manera sencilla y segura a personas que realicen oficios. </a:t>
            </a:r>
            <a:endParaRPr/>
          </a:p>
          <a:p>
            <a:pPr indent="0" lvl="0" marL="0" rtl="0" algn="l">
              <a:spcBef>
                <a:spcPts val="1200"/>
              </a:spcBef>
              <a:spcAft>
                <a:spcPts val="0"/>
              </a:spcAft>
              <a:buNone/>
            </a:pPr>
            <a:r>
              <a:rPr lang="en" u="sng"/>
              <a:t>Para la persona que realice el oficio</a:t>
            </a:r>
            <a:r>
              <a:rPr lang="en"/>
              <a:t>:</a:t>
            </a:r>
            <a:endParaRPr/>
          </a:p>
          <a:p>
            <a:pPr indent="0" lvl="0" marL="0" rtl="0" algn="l">
              <a:spcBef>
                <a:spcPts val="1200"/>
              </a:spcBef>
              <a:spcAft>
                <a:spcPts val="1200"/>
              </a:spcAft>
              <a:buNone/>
            </a:pPr>
            <a:r>
              <a:rPr lang="en"/>
              <a:t>Poder ser conocido, encontrado y recomendado por los clientes.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461400" y="80775"/>
            <a:ext cx="8682600" cy="17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5000"/>
              <a:t>Oportunidades</a:t>
            </a:r>
            <a:endParaRPr sz="5000"/>
          </a:p>
        </p:txBody>
      </p:sp>
      <p:sp>
        <p:nvSpPr>
          <p:cNvPr id="80" name="Google Shape;80;p16"/>
          <p:cNvSpPr txBox="1"/>
          <p:nvPr>
            <p:ph idx="1" type="body"/>
          </p:nvPr>
        </p:nvSpPr>
        <p:spPr>
          <a:xfrm>
            <a:off x="311700" y="1500150"/>
            <a:ext cx="8520600" cy="10716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SzPts val="440"/>
              <a:buNone/>
            </a:pPr>
            <a:r>
              <a:rPr lang="en" sz="1020"/>
              <a:t>Extensión de oficios con solo crear una nueva categoría (por ej profesores de inglés, maestros particulares, etc)</a:t>
            </a:r>
            <a:endParaRPr sz="1020"/>
          </a:p>
          <a:p>
            <a:pPr indent="0" lvl="0" marL="0" rtl="0" algn="ctr">
              <a:lnSpc>
                <a:spcPct val="95000"/>
              </a:lnSpc>
              <a:spcBef>
                <a:spcPts val="1200"/>
              </a:spcBef>
              <a:spcAft>
                <a:spcPts val="0"/>
              </a:spcAft>
              <a:buSzPts val="440"/>
              <a:buNone/>
            </a:pPr>
            <a:r>
              <a:rPr lang="en" sz="1020"/>
              <a:t>Apertura para nuevas ciudades o mercados. </a:t>
            </a:r>
            <a:endParaRPr sz="1020"/>
          </a:p>
          <a:p>
            <a:pPr indent="0" lvl="0" marL="0" rtl="0" algn="ctr">
              <a:lnSpc>
                <a:spcPct val="95000"/>
              </a:lnSpc>
              <a:spcBef>
                <a:spcPts val="1200"/>
              </a:spcBef>
              <a:spcAft>
                <a:spcPts val="0"/>
              </a:spcAft>
              <a:buSzPts val="440"/>
              <a:buNone/>
            </a:pPr>
            <a:r>
              <a:rPr lang="en" sz="1020"/>
              <a:t>Soluciones no muy conocidas en el mercado</a:t>
            </a:r>
            <a:endParaRPr sz="1020"/>
          </a:p>
          <a:p>
            <a:pPr indent="0" lvl="0" marL="0" rtl="0" algn="ctr">
              <a:lnSpc>
                <a:spcPct val="95000"/>
              </a:lnSpc>
              <a:spcBef>
                <a:spcPts val="1200"/>
              </a:spcBef>
              <a:spcAft>
                <a:spcPts val="1200"/>
              </a:spcAft>
              <a:buSzPts val="440"/>
              <a:buNone/>
            </a:pPr>
            <a:r>
              <a:t/>
            </a:r>
            <a:endParaRPr sz="1020"/>
          </a:p>
        </p:txBody>
      </p:sp>
      <p:sp>
        <p:nvSpPr>
          <p:cNvPr id="81" name="Google Shape;81;p16"/>
          <p:cNvSpPr txBox="1"/>
          <p:nvPr>
            <p:ph type="title"/>
          </p:nvPr>
        </p:nvSpPr>
        <p:spPr>
          <a:xfrm>
            <a:off x="461400" y="2414450"/>
            <a:ext cx="8682600" cy="170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5000"/>
              <a:t>Amenazas</a:t>
            </a:r>
            <a:endParaRPr sz="5000"/>
          </a:p>
        </p:txBody>
      </p:sp>
      <p:sp>
        <p:nvSpPr>
          <p:cNvPr id="82" name="Google Shape;82;p16"/>
          <p:cNvSpPr txBox="1"/>
          <p:nvPr>
            <p:ph idx="1" type="body"/>
          </p:nvPr>
        </p:nvSpPr>
        <p:spPr>
          <a:xfrm>
            <a:off x="461400" y="3887675"/>
            <a:ext cx="8520600" cy="10716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SzPts val="440"/>
              <a:buNone/>
            </a:pPr>
            <a:r>
              <a:rPr lang="en" sz="1020"/>
              <a:t>Uso de la tecnología</a:t>
            </a:r>
            <a:endParaRPr sz="1020"/>
          </a:p>
          <a:p>
            <a:pPr indent="0" lvl="0" marL="0" rtl="0" algn="ctr">
              <a:lnSpc>
                <a:spcPct val="95000"/>
              </a:lnSpc>
              <a:spcBef>
                <a:spcPts val="1200"/>
              </a:spcBef>
              <a:spcAft>
                <a:spcPts val="0"/>
              </a:spcAft>
              <a:buSzPts val="440"/>
              <a:buNone/>
            </a:pPr>
            <a:r>
              <a:rPr lang="en" sz="1020"/>
              <a:t>Elección y crecimiento del competidor.</a:t>
            </a:r>
            <a:endParaRPr sz="1020"/>
          </a:p>
          <a:p>
            <a:pPr indent="0" lvl="0" marL="0" rtl="0" algn="ctr">
              <a:lnSpc>
                <a:spcPct val="95000"/>
              </a:lnSpc>
              <a:spcBef>
                <a:spcPts val="1200"/>
              </a:spcBef>
              <a:spcAft>
                <a:spcPts val="0"/>
              </a:spcAft>
              <a:buSzPts val="440"/>
              <a:buNone/>
            </a:pPr>
            <a:r>
              <a:rPr lang="en" sz="1020"/>
              <a:t>Desconfianza en la información </a:t>
            </a:r>
            <a:endParaRPr sz="1020"/>
          </a:p>
          <a:p>
            <a:pPr indent="0" lvl="0" marL="0" rtl="0" algn="ctr">
              <a:lnSpc>
                <a:spcPct val="95000"/>
              </a:lnSpc>
              <a:spcBef>
                <a:spcPts val="1200"/>
              </a:spcBef>
              <a:spcAft>
                <a:spcPts val="1200"/>
              </a:spcAft>
              <a:buSzPts val="440"/>
              <a:buNone/>
            </a:pPr>
            <a:r>
              <a:t/>
            </a:r>
            <a:endParaRPr sz="10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81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Principales competidores</a:t>
            </a:r>
            <a:endParaRPr/>
          </a:p>
        </p:txBody>
      </p:sp>
      <p:sp>
        <p:nvSpPr>
          <p:cNvPr id="88" name="Google Shape;88;p17"/>
          <p:cNvSpPr txBox="1"/>
          <p:nvPr/>
        </p:nvSpPr>
        <p:spPr>
          <a:xfrm>
            <a:off x="556154" y="4626763"/>
            <a:ext cx="8465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latin typeface="Proxima Nova"/>
                <a:ea typeface="Proxima Nova"/>
                <a:cs typeface="Proxima Nova"/>
                <a:sym typeface="Proxima Nova"/>
              </a:rPr>
              <a:t>Solo Timbrit y ClasApps son competidores directos con  Ofidi.</a:t>
            </a:r>
            <a:endParaRPr/>
          </a:p>
        </p:txBody>
      </p:sp>
      <p:cxnSp>
        <p:nvCxnSpPr>
          <p:cNvPr id="89" name="Google Shape;89;p17"/>
          <p:cNvCxnSpPr/>
          <p:nvPr/>
        </p:nvCxnSpPr>
        <p:spPr>
          <a:xfrm>
            <a:off x="-80800" y="2262075"/>
            <a:ext cx="9236700" cy="0"/>
          </a:xfrm>
          <a:prstGeom prst="straightConnector1">
            <a:avLst/>
          </a:prstGeom>
          <a:noFill/>
          <a:ln cap="flat" cmpd="sng" w="19050">
            <a:solidFill>
              <a:schemeClr val="dk2"/>
            </a:solidFill>
            <a:prstDash val="solid"/>
            <a:round/>
            <a:headEnd len="sm" w="sm" type="none"/>
            <a:tailEnd len="sm" w="sm" type="none"/>
          </a:ln>
        </p:spPr>
      </p:cxnSp>
      <p:sp>
        <p:nvSpPr>
          <p:cNvPr id="90" name="Google Shape;90;p17"/>
          <p:cNvSpPr/>
          <p:nvPr/>
        </p:nvSpPr>
        <p:spPr>
          <a:xfrm>
            <a:off x="774825" y="1645371"/>
            <a:ext cx="1257300" cy="1216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txBox="1"/>
          <p:nvPr/>
        </p:nvSpPr>
        <p:spPr>
          <a:xfrm>
            <a:off x="774872" y="1975743"/>
            <a:ext cx="12573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Code Pro"/>
                <a:ea typeface="Source Code Pro"/>
                <a:cs typeface="Source Code Pro"/>
                <a:sym typeface="Source Code Pro"/>
              </a:rPr>
              <a:t>Redes Sociales</a:t>
            </a:r>
            <a:endParaRPr>
              <a:solidFill>
                <a:schemeClr val="lt1"/>
              </a:solidFill>
              <a:latin typeface="Source Code Pro"/>
              <a:ea typeface="Source Code Pro"/>
              <a:cs typeface="Source Code Pro"/>
              <a:sym typeface="Source Code Pro"/>
            </a:endParaRPr>
          </a:p>
          <a:p>
            <a:pPr indent="0" lvl="0" marL="0" rtl="0" algn="ctr">
              <a:spcBef>
                <a:spcPts val="0"/>
              </a:spcBef>
              <a:spcAft>
                <a:spcPts val="0"/>
              </a:spcAft>
              <a:buNone/>
            </a:pPr>
            <a:r>
              <a:rPr lang="en">
                <a:solidFill>
                  <a:schemeClr val="lt1"/>
                </a:solidFill>
                <a:latin typeface="Source Code Pro"/>
                <a:ea typeface="Source Code Pro"/>
                <a:cs typeface="Source Code Pro"/>
                <a:sym typeface="Source Code Pro"/>
              </a:rPr>
              <a:t>(FB, IG)</a:t>
            </a:r>
            <a:endParaRPr>
              <a:solidFill>
                <a:schemeClr val="lt1"/>
              </a:solidFill>
              <a:latin typeface="Source Code Pro"/>
              <a:ea typeface="Source Code Pro"/>
              <a:cs typeface="Source Code Pro"/>
              <a:sym typeface="Source Code Pro"/>
            </a:endParaRPr>
          </a:p>
        </p:txBody>
      </p:sp>
      <p:sp>
        <p:nvSpPr>
          <p:cNvPr id="92" name="Google Shape;92;p17"/>
          <p:cNvSpPr/>
          <p:nvPr/>
        </p:nvSpPr>
        <p:spPr>
          <a:xfrm>
            <a:off x="2506730" y="902125"/>
            <a:ext cx="2793300" cy="2703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txBox="1"/>
          <p:nvPr/>
        </p:nvSpPr>
        <p:spPr>
          <a:xfrm>
            <a:off x="2506733" y="1975743"/>
            <a:ext cx="27933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Source Code Pro"/>
                <a:ea typeface="Source Code Pro"/>
                <a:cs typeface="Source Code Pro"/>
                <a:sym typeface="Source Code Pro"/>
              </a:rPr>
              <a:t>Timbrit</a:t>
            </a:r>
            <a:endParaRPr sz="3000">
              <a:solidFill>
                <a:schemeClr val="lt1"/>
              </a:solidFill>
              <a:latin typeface="Source Code Pro"/>
              <a:ea typeface="Source Code Pro"/>
              <a:cs typeface="Source Code Pro"/>
              <a:sym typeface="Source Code Pro"/>
            </a:endParaRPr>
          </a:p>
        </p:txBody>
      </p:sp>
      <p:sp>
        <p:nvSpPr>
          <p:cNvPr id="94" name="Google Shape;94;p17"/>
          <p:cNvSpPr/>
          <p:nvPr/>
        </p:nvSpPr>
        <p:spPr>
          <a:xfrm>
            <a:off x="5774476" y="1564618"/>
            <a:ext cx="1424400" cy="137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nvSpPr>
        <p:spPr>
          <a:xfrm>
            <a:off x="5774665" y="1975743"/>
            <a:ext cx="14244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Source Code Pro"/>
                <a:ea typeface="Source Code Pro"/>
                <a:cs typeface="Source Code Pro"/>
                <a:sym typeface="Source Code Pro"/>
              </a:rPr>
              <a:t>ClasApps</a:t>
            </a:r>
            <a:endParaRPr sz="1800">
              <a:solidFill>
                <a:schemeClr val="lt1"/>
              </a:solidFill>
              <a:latin typeface="Source Code Pro"/>
              <a:ea typeface="Source Code Pro"/>
              <a:cs typeface="Source Code Pro"/>
              <a:sym typeface="Source Code Pro"/>
            </a:endParaRPr>
          </a:p>
        </p:txBody>
      </p:sp>
      <p:sp>
        <p:nvSpPr>
          <p:cNvPr id="96" name="Google Shape;96;p17"/>
          <p:cNvSpPr/>
          <p:nvPr/>
        </p:nvSpPr>
        <p:spPr>
          <a:xfrm>
            <a:off x="7673249" y="1790806"/>
            <a:ext cx="957300" cy="92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txBox="1"/>
          <p:nvPr/>
        </p:nvSpPr>
        <p:spPr>
          <a:xfrm>
            <a:off x="7673576" y="1975743"/>
            <a:ext cx="957300" cy="5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Source Code Pro"/>
                <a:ea typeface="Source Code Pro"/>
                <a:cs typeface="Source Code Pro"/>
                <a:sym typeface="Source Code Pro"/>
              </a:rPr>
              <a:t>Otros </a:t>
            </a:r>
            <a:r>
              <a:rPr lang="en" sz="1300">
                <a:solidFill>
                  <a:schemeClr val="lt1"/>
                </a:solidFill>
                <a:latin typeface="Source Code Pro"/>
                <a:ea typeface="Source Code Pro"/>
                <a:cs typeface="Source Code Pro"/>
                <a:sym typeface="Source Code Pro"/>
              </a:rPr>
              <a:t>(Iguanafix)</a:t>
            </a:r>
            <a:endParaRPr sz="1300">
              <a:solidFill>
                <a:schemeClr val="lt1"/>
              </a:solidFill>
              <a:latin typeface="Source Code Pro"/>
              <a:ea typeface="Source Code Pro"/>
              <a:cs typeface="Source Code Pro"/>
              <a:sym typeface="Source Code Pro"/>
            </a:endParaRPr>
          </a:p>
        </p:txBody>
      </p:sp>
      <p:pic>
        <p:nvPicPr>
          <p:cNvPr id="98" name="Google Shape;98;p17"/>
          <p:cNvPicPr preferRelativeResize="0"/>
          <p:nvPr/>
        </p:nvPicPr>
        <p:blipFill>
          <a:blip r:embed="rId3">
            <a:alphaModFix/>
          </a:blip>
          <a:stretch>
            <a:fillRect/>
          </a:stretch>
        </p:blipFill>
        <p:spPr>
          <a:xfrm>
            <a:off x="6270522" y="3669873"/>
            <a:ext cx="574608" cy="556145"/>
          </a:xfrm>
          <a:prstGeom prst="rect">
            <a:avLst/>
          </a:prstGeom>
          <a:noFill/>
          <a:ln>
            <a:noFill/>
          </a:ln>
        </p:spPr>
      </p:pic>
      <p:pic>
        <p:nvPicPr>
          <p:cNvPr id="99" name="Google Shape;99;p17"/>
          <p:cNvPicPr preferRelativeResize="0"/>
          <p:nvPr/>
        </p:nvPicPr>
        <p:blipFill>
          <a:blip r:embed="rId4">
            <a:alphaModFix/>
          </a:blip>
          <a:stretch>
            <a:fillRect/>
          </a:stretch>
        </p:blipFill>
        <p:spPr>
          <a:xfrm>
            <a:off x="3616104" y="3669856"/>
            <a:ext cx="574608" cy="556164"/>
          </a:xfrm>
          <a:prstGeom prst="rect">
            <a:avLst/>
          </a:prstGeom>
          <a:noFill/>
          <a:ln>
            <a:noFill/>
          </a:ln>
        </p:spPr>
      </p:pic>
      <p:pic>
        <p:nvPicPr>
          <p:cNvPr id="100" name="Google Shape;100;p17"/>
          <p:cNvPicPr preferRelativeResize="0"/>
          <p:nvPr/>
        </p:nvPicPr>
        <p:blipFill>
          <a:blip r:embed="rId5">
            <a:alphaModFix/>
          </a:blip>
          <a:stretch>
            <a:fillRect/>
          </a:stretch>
        </p:blipFill>
        <p:spPr>
          <a:xfrm>
            <a:off x="7948448" y="3669876"/>
            <a:ext cx="574609" cy="556146"/>
          </a:xfrm>
          <a:prstGeom prst="rect">
            <a:avLst/>
          </a:prstGeom>
          <a:noFill/>
          <a:ln>
            <a:noFill/>
          </a:ln>
        </p:spPr>
      </p:pic>
      <p:pic>
        <p:nvPicPr>
          <p:cNvPr id="101" name="Google Shape;101;p17"/>
          <p:cNvPicPr preferRelativeResize="0"/>
          <p:nvPr/>
        </p:nvPicPr>
        <p:blipFill rotWithShape="1">
          <a:blip r:embed="rId6">
            <a:alphaModFix/>
          </a:blip>
          <a:srcRect b="11988" l="7678" r="7012" t="10673"/>
          <a:stretch/>
        </p:blipFill>
        <p:spPr>
          <a:xfrm>
            <a:off x="860100" y="3669875"/>
            <a:ext cx="1086853" cy="556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265500" y="1375599"/>
            <a:ext cx="4045200" cy="1551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Problemas con estas aplicaciones</a:t>
            </a:r>
            <a:endParaRPr/>
          </a:p>
        </p:txBody>
      </p:sp>
      <p:sp>
        <p:nvSpPr>
          <p:cNvPr id="107" name="Google Shape;107;p18"/>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108" name="Google Shape;108;p18"/>
          <p:cNvSpPr txBox="1"/>
          <p:nvPr>
            <p:ph idx="2" type="body"/>
          </p:nvPr>
        </p:nvSpPr>
        <p:spPr>
          <a:xfrm>
            <a:off x="4885650" y="1084950"/>
            <a:ext cx="3837000" cy="3695100"/>
          </a:xfrm>
          <a:prstGeom prst="rect">
            <a:avLst/>
          </a:prstGeom>
        </p:spPr>
        <p:txBody>
          <a:bodyPr anchorCtr="0" anchor="ctr" bIns="91425" lIns="91425" spcFirstLastPara="1" rIns="91425" wrap="square" tIns="91425">
            <a:noAutofit/>
          </a:bodyPr>
          <a:lstStyle/>
          <a:p>
            <a:pPr indent="0" lvl="0" marL="0" rtl="0" algn="l">
              <a:lnSpc>
                <a:spcPct val="95000"/>
              </a:lnSpc>
              <a:spcBef>
                <a:spcPts val="0"/>
              </a:spcBef>
              <a:spcAft>
                <a:spcPts val="0"/>
              </a:spcAft>
              <a:buSzPts val="853"/>
              <a:buNone/>
            </a:pPr>
            <a:r>
              <a:rPr lang="en" sz="1695"/>
              <a:t>Si bien presentan la oportunidad de ser escalable. </a:t>
            </a:r>
            <a:r>
              <a:rPr lang="en" sz="1695"/>
              <a:t>Se limitan solo a una ciudad.</a:t>
            </a:r>
            <a:endParaRPr sz="1695"/>
          </a:p>
          <a:p>
            <a:pPr indent="0" lvl="0" marL="0" rtl="0" algn="l">
              <a:lnSpc>
                <a:spcPct val="95000"/>
              </a:lnSpc>
              <a:spcBef>
                <a:spcPts val="1200"/>
              </a:spcBef>
              <a:spcAft>
                <a:spcPts val="0"/>
              </a:spcAft>
              <a:buSzPts val="853"/>
              <a:buNone/>
            </a:pPr>
            <a:r>
              <a:rPr lang="en" sz="1695"/>
              <a:t>Son poco conocidas en el mercado</a:t>
            </a:r>
            <a:endParaRPr sz="1695"/>
          </a:p>
          <a:p>
            <a:pPr indent="0" lvl="0" marL="0" rtl="0" algn="l">
              <a:lnSpc>
                <a:spcPct val="95000"/>
              </a:lnSpc>
              <a:spcBef>
                <a:spcPts val="1200"/>
              </a:spcBef>
              <a:spcAft>
                <a:spcPts val="0"/>
              </a:spcAft>
              <a:buSzPts val="853"/>
              <a:buNone/>
            </a:pPr>
            <a:r>
              <a:rPr lang="en" sz="1695"/>
              <a:t>Cuentan con usuarios temporales. No logran la persistencia en su uso.</a:t>
            </a:r>
            <a:endParaRPr sz="1695"/>
          </a:p>
          <a:p>
            <a:pPr indent="0" lvl="0" marL="0" rtl="0" algn="l">
              <a:lnSpc>
                <a:spcPct val="95000"/>
              </a:lnSpc>
              <a:spcBef>
                <a:spcPts val="1200"/>
              </a:spcBef>
              <a:spcAft>
                <a:spcPts val="0"/>
              </a:spcAft>
              <a:buSzPts val="853"/>
              <a:buNone/>
            </a:pPr>
            <a:r>
              <a:rPr lang="en" sz="1695"/>
              <a:t>Escasa cantidad de usuarios </a:t>
            </a:r>
            <a:endParaRPr sz="1695"/>
          </a:p>
          <a:p>
            <a:pPr indent="0" lvl="0" marL="0" rtl="0" algn="l">
              <a:lnSpc>
                <a:spcPct val="95000"/>
              </a:lnSpc>
              <a:spcBef>
                <a:spcPts val="1200"/>
              </a:spcBef>
              <a:spcAft>
                <a:spcPts val="0"/>
              </a:spcAft>
              <a:buSzPts val="853"/>
              <a:buNone/>
            </a:pPr>
            <a:r>
              <a:rPr lang="en" sz="1695"/>
              <a:t>Baja diversidad de personas que ofrecen oficios</a:t>
            </a:r>
            <a:endParaRPr sz="1695"/>
          </a:p>
          <a:p>
            <a:pPr indent="0" lvl="0" marL="0" rtl="0" algn="l">
              <a:lnSpc>
                <a:spcPct val="95000"/>
              </a:lnSpc>
              <a:spcBef>
                <a:spcPts val="1200"/>
              </a:spcBef>
              <a:spcAft>
                <a:spcPts val="0"/>
              </a:spcAft>
              <a:buSzPts val="853"/>
              <a:buNone/>
            </a:pPr>
            <a:r>
              <a:rPr lang="en" sz="1695"/>
              <a:t>Los oficios se pagan en su gran mayoría en formato efectivo. </a:t>
            </a:r>
            <a:endParaRPr sz="1695"/>
          </a:p>
          <a:p>
            <a:pPr indent="0" lvl="0" marL="0" rtl="0" algn="l">
              <a:lnSpc>
                <a:spcPct val="95000"/>
              </a:lnSpc>
              <a:spcBef>
                <a:spcPts val="1200"/>
              </a:spcBef>
              <a:spcAft>
                <a:spcPts val="0"/>
              </a:spcAft>
              <a:buSzPts val="853"/>
              <a:buNone/>
            </a:pPr>
            <a:r>
              <a:rPr lang="en" sz="1695"/>
              <a:t>Timbrit ofrece membresías en dólares </a:t>
            </a:r>
            <a:endParaRPr sz="1695"/>
          </a:p>
          <a:p>
            <a:pPr indent="0" lvl="0" marL="0" rtl="0" algn="l">
              <a:lnSpc>
                <a:spcPct val="95000"/>
              </a:lnSpc>
              <a:spcBef>
                <a:spcPts val="1200"/>
              </a:spcBef>
              <a:spcAft>
                <a:spcPts val="0"/>
              </a:spcAft>
              <a:buSzPts val="853"/>
              <a:buNone/>
            </a:pPr>
            <a:r>
              <a:rPr lang="en" sz="1695"/>
              <a:t> </a:t>
            </a:r>
            <a:endParaRPr sz="1695"/>
          </a:p>
          <a:p>
            <a:pPr indent="0" lvl="0" marL="0" rtl="0" algn="l">
              <a:lnSpc>
                <a:spcPct val="95000"/>
              </a:lnSpc>
              <a:spcBef>
                <a:spcPts val="1200"/>
              </a:spcBef>
              <a:spcAft>
                <a:spcPts val="0"/>
              </a:spcAft>
              <a:buSzPts val="853"/>
              <a:buNone/>
            </a:pPr>
            <a:r>
              <a:t/>
            </a:r>
            <a:endParaRPr sz="1695"/>
          </a:p>
          <a:p>
            <a:pPr indent="0" lvl="0" marL="0" rtl="0" algn="l">
              <a:lnSpc>
                <a:spcPct val="95000"/>
              </a:lnSpc>
              <a:spcBef>
                <a:spcPts val="1200"/>
              </a:spcBef>
              <a:spcAft>
                <a:spcPts val="0"/>
              </a:spcAft>
              <a:buSzPts val="853"/>
              <a:buNone/>
            </a:pPr>
            <a:r>
              <a:rPr lang="en" sz="1695"/>
              <a:t> </a:t>
            </a:r>
            <a:endParaRPr sz="1695"/>
          </a:p>
          <a:p>
            <a:pPr indent="0" lvl="0" marL="0" rtl="0" algn="l">
              <a:lnSpc>
                <a:spcPct val="95000"/>
              </a:lnSpc>
              <a:spcBef>
                <a:spcPts val="1200"/>
              </a:spcBef>
              <a:spcAft>
                <a:spcPts val="1200"/>
              </a:spcAft>
              <a:buSzPts val="853"/>
              <a:buNone/>
            </a:pPr>
            <a:r>
              <a:t/>
            </a:r>
            <a:endParaRPr sz="1695"/>
          </a:p>
        </p:txBody>
      </p:sp>
      <p:pic>
        <p:nvPicPr>
          <p:cNvPr id="109" name="Google Shape;109;p18"/>
          <p:cNvPicPr preferRelativeResize="0"/>
          <p:nvPr/>
        </p:nvPicPr>
        <p:blipFill>
          <a:blip r:embed="rId3">
            <a:alphaModFix/>
          </a:blip>
          <a:stretch>
            <a:fillRect/>
          </a:stretch>
        </p:blipFill>
        <p:spPr>
          <a:xfrm>
            <a:off x="1306250" y="3176859"/>
            <a:ext cx="607800" cy="607800"/>
          </a:xfrm>
          <a:prstGeom prst="rect">
            <a:avLst/>
          </a:prstGeom>
          <a:noFill/>
          <a:ln>
            <a:noFill/>
          </a:ln>
        </p:spPr>
      </p:pic>
      <p:pic>
        <p:nvPicPr>
          <p:cNvPr id="110" name="Google Shape;110;p18"/>
          <p:cNvPicPr preferRelativeResize="0"/>
          <p:nvPr/>
        </p:nvPicPr>
        <p:blipFill>
          <a:blip r:embed="rId4">
            <a:alphaModFix/>
          </a:blip>
          <a:stretch>
            <a:fillRect/>
          </a:stretch>
        </p:blipFill>
        <p:spPr>
          <a:xfrm>
            <a:off x="2478453" y="3176854"/>
            <a:ext cx="607800" cy="6078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177050" y="949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Reseñas positivas</a:t>
            </a:r>
            <a:endParaRPr/>
          </a:p>
        </p:txBody>
      </p:sp>
      <p:sp>
        <p:nvSpPr>
          <p:cNvPr id="116" name="Google Shape;116;p19"/>
          <p:cNvSpPr txBox="1"/>
          <p:nvPr>
            <p:ph idx="1" type="body"/>
          </p:nvPr>
        </p:nvSpPr>
        <p:spPr>
          <a:xfrm>
            <a:off x="311700" y="15904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21 de diciembre de 2018</a:t>
            </a:r>
            <a:endParaRPr sz="750">
              <a:solidFill>
                <a:srgbClr val="757575"/>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Que app más fácil de usar, útil, sencilla. La verdad que me encantó. Felicidades a los creadores excelente herramienta de trabajo.</a:t>
            </a:r>
            <a:endParaRPr sz="1050">
              <a:solidFill>
                <a:srgbClr val="333333"/>
              </a:solidFill>
              <a:highlight>
                <a:srgbClr val="FFFFFF"/>
              </a:highlight>
              <a:latin typeface="Roboto"/>
              <a:ea typeface="Roboto"/>
              <a:cs typeface="Roboto"/>
              <a:sym typeface="Roboto"/>
            </a:endParaRPr>
          </a:p>
          <a:p>
            <a:pPr indent="0" lvl="0" marL="0" rtl="0" algn="l">
              <a:lnSpc>
                <a:spcPct val="163636"/>
              </a:lnSpc>
              <a:spcBef>
                <a:spcPts val="0"/>
              </a:spcBef>
              <a:spcAft>
                <a:spcPts val="0"/>
              </a:spcAft>
              <a:buNone/>
            </a:pPr>
            <a:r>
              <a:t/>
            </a:r>
            <a:endParaRPr sz="1050">
              <a:solidFill>
                <a:srgbClr val="333333"/>
              </a:solidFill>
              <a:highlight>
                <a:srgbClr val="FFFFFF"/>
              </a:highlight>
              <a:latin typeface="Roboto"/>
              <a:ea typeface="Roboto"/>
              <a:cs typeface="Roboto"/>
              <a:sym typeface="Roboto"/>
            </a:endParaRPr>
          </a:p>
          <a:p>
            <a:pPr indent="0" lvl="0" marL="0" rtl="0" algn="l">
              <a:lnSpc>
                <a:spcPct val="163636"/>
              </a:lnSpc>
              <a:spcBef>
                <a:spcPts val="0"/>
              </a:spcBef>
              <a:spcAft>
                <a:spcPts val="0"/>
              </a:spcAft>
              <a:buNone/>
            </a:pPr>
            <a:r>
              <a:rPr lang="en" sz="900">
                <a:solidFill>
                  <a:srgbClr val="AAAAAA"/>
                </a:solidFill>
                <a:highlight>
                  <a:srgbClr val="FFFFFF"/>
                </a:highlight>
                <a:latin typeface="Roboto"/>
                <a:ea typeface="Roboto"/>
                <a:cs typeface="Roboto"/>
                <a:sym typeface="Roboto"/>
              </a:rPr>
              <a:t>1 de enero de 2019</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Muy buena en </a:t>
            </a:r>
            <a:r>
              <a:rPr lang="en" sz="1050">
                <a:solidFill>
                  <a:srgbClr val="333333"/>
                </a:solidFill>
                <a:highlight>
                  <a:srgbClr val="FFFFFF"/>
                </a:highlight>
                <a:latin typeface="Roboto"/>
                <a:ea typeface="Roboto"/>
                <a:cs typeface="Roboto"/>
                <a:sym typeface="Roboto"/>
              </a:rPr>
              <a:t>cuestión</a:t>
            </a:r>
            <a:r>
              <a:rPr lang="en" sz="1050">
                <a:solidFill>
                  <a:srgbClr val="333333"/>
                </a:solidFill>
                <a:highlight>
                  <a:srgbClr val="FFFFFF"/>
                </a:highlight>
                <a:latin typeface="Roboto"/>
                <a:ea typeface="Roboto"/>
                <a:cs typeface="Roboto"/>
                <a:sym typeface="Roboto"/>
              </a:rPr>
              <a:t> de minutos </a:t>
            </a:r>
            <a:r>
              <a:rPr lang="en" sz="1050">
                <a:solidFill>
                  <a:srgbClr val="333333"/>
                </a:solidFill>
                <a:highlight>
                  <a:srgbClr val="FFFFFF"/>
                </a:highlight>
                <a:latin typeface="Roboto"/>
                <a:ea typeface="Roboto"/>
                <a:cs typeface="Roboto"/>
                <a:sym typeface="Roboto"/>
              </a:rPr>
              <a:t>encontré</a:t>
            </a:r>
            <a:r>
              <a:rPr lang="en" sz="1050">
                <a:solidFill>
                  <a:srgbClr val="333333"/>
                </a:solidFill>
                <a:highlight>
                  <a:srgbClr val="FFFFFF"/>
                </a:highlight>
                <a:latin typeface="Roboto"/>
                <a:ea typeface="Roboto"/>
                <a:cs typeface="Roboto"/>
                <a:sym typeface="Roboto"/>
              </a:rPr>
              <a:t> niñera y pintor</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2 de julio de 2020</a:t>
            </a:r>
            <a:endParaRPr sz="750">
              <a:solidFill>
                <a:srgbClr val="757575"/>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Esta muy linda la interfaz , es una lastima que no tenga profesionales en Tucumán</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1200"/>
              </a:spcAft>
              <a:buNone/>
            </a:pPr>
            <a:r>
              <a:t/>
            </a:r>
            <a:endParaRPr/>
          </a:p>
        </p:txBody>
      </p:sp>
      <p:sp>
        <p:nvSpPr>
          <p:cNvPr id="117" name="Google Shape;117;p19"/>
          <p:cNvSpPr txBox="1"/>
          <p:nvPr>
            <p:ph idx="2" type="body"/>
          </p:nvPr>
        </p:nvSpPr>
        <p:spPr>
          <a:xfrm>
            <a:off x="4832400" y="1590425"/>
            <a:ext cx="39999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December 27, 2020</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La he usado un par de veces y me ha ofrecido la solución oportuna. La información y valoración de los técnicos facilita la elección</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November 1, 2020</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La verdad que por los comentarios noto que es una buena app. Por lo que mí pregunta es, si la misma se puede ser utilizada en otras provincias. Por ejemplo, yo soy de misiones. Y en mí caso serviría muchísimo acá. Espero una pronta respuesta y desde ya gracias.</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September 29, 2020</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No conocía la app, me apareció en una búsqueda en Google tratando de encontrar a alguien que nos ayude con varias cosas. Me sorprendió lo rápido que me conecto con alguien y los buenos resultados que dió. Muy agradecido con la app.</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1200"/>
              </a:spcAft>
              <a:buNone/>
            </a:pPr>
            <a:r>
              <a:t/>
            </a:r>
            <a:endParaRPr/>
          </a:p>
        </p:txBody>
      </p:sp>
      <p:pic>
        <p:nvPicPr>
          <p:cNvPr id="118" name="Google Shape;118;p19"/>
          <p:cNvPicPr preferRelativeResize="0"/>
          <p:nvPr/>
        </p:nvPicPr>
        <p:blipFill>
          <a:blip r:embed="rId3">
            <a:alphaModFix/>
          </a:blip>
          <a:stretch>
            <a:fillRect/>
          </a:stretch>
        </p:blipFill>
        <p:spPr>
          <a:xfrm>
            <a:off x="1876350" y="1017725"/>
            <a:ext cx="572700" cy="572700"/>
          </a:xfrm>
          <a:prstGeom prst="rect">
            <a:avLst/>
          </a:prstGeom>
          <a:noFill/>
          <a:ln>
            <a:noFill/>
          </a:ln>
        </p:spPr>
      </p:pic>
      <p:pic>
        <p:nvPicPr>
          <p:cNvPr id="119" name="Google Shape;119;p19"/>
          <p:cNvPicPr preferRelativeResize="0"/>
          <p:nvPr/>
        </p:nvPicPr>
        <p:blipFill>
          <a:blip r:embed="rId4">
            <a:alphaModFix/>
          </a:blip>
          <a:stretch>
            <a:fillRect/>
          </a:stretch>
        </p:blipFill>
        <p:spPr>
          <a:xfrm>
            <a:off x="6528453" y="1000167"/>
            <a:ext cx="607800" cy="6078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177050" y="949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Reseñas Negativas</a:t>
            </a:r>
            <a:endParaRPr/>
          </a:p>
        </p:txBody>
      </p:sp>
      <p:sp>
        <p:nvSpPr>
          <p:cNvPr id="125" name="Google Shape;125;p20"/>
          <p:cNvSpPr txBox="1"/>
          <p:nvPr>
            <p:ph idx="1" type="body"/>
          </p:nvPr>
        </p:nvSpPr>
        <p:spPr>
          <a:xfrm>
            <a:off x="311700" y="15904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lnSpc>
                <a:spcPct val="163636"/>
              </a:lnSpc>
              <a:spcBef>
                <a:spcPts val="0"/>
              </a:spcBef>
              <a:spcAft>
                <a:spcPts val="0"/>
              </a:spcAft>
              <a:buNone/>
            </a:pPr>
            <a:r>
              <a:rPr lang="en" sz="900">
                <a:solidFill>
                  <a:srgbClr val="AAAAAA"/>
                </a:solidFill>
                <a:highlight>
                  <a:srgbClr val="FFFFFF"/>
                </a:highlight>
                <a:latin typeface="Roboto"/>
                <a:ea typeface="Roboto"/>
                <a:cs typeface="Roboto"/>
                <a:sym typeface="Roboto"/>
              </a:rPr>
              <a:t>14 de noviembre de 2019</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Tienen que mejorar la Interfaz y selección de categorías.</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63636"/>
              </a:lnSpc>
              <a:spcBef>
                <a:spcPts val="0"/>
              </a:spcBef>
              <a:spcAft>
                <a:spcPts val="0"/>
              </a:spcAft>
              <a:buNone/>
            </a:pPr>
            <a:r>
              <a:rPr lang="en" sz="900">
                <a:solidFill>
                  <a:srgbClr val="AAAAAA"/>
                </a:solidFill>
                <a:highlight>
                  <a:srgbClr val="FFFFFF"/>
                </a:highlight>
                <a:latin typeface="Roboto"/>
                <a:ea typeface="Roboto"/>
                <a:cs typeface="Roboto"/>
                <a:sym typeface="Roboto"/>
              </a:rPr>
              <a:t>8 de enero de 2019</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re copiado a la aplicación Yapue ! hasta en las palabras de las descripciones! encima en esta te cobran !!! cualquiera.. sean originales ! chorros</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sp>
        <p:nvSpPr>
          <p:cNvPr id="126" name="Google Shape;126;p20"/>
          <p:cNvSpPr txBox="1"/>
          <p:nvPr>
            <p:ph idx="2" type="body"/>
          </p:nvPr>
        </p:nvSpPr>
        <p:spPr>
          <a:xfrm>
            <a:off x="4832400" y="1590425"/>
            <a:ext cx="39999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t/>
            </a:r>
            <a:endParaRPr/>
          </a:p>
          <a:p>
            <a:pPr indent="0" lvl="0" marL="0" rtl="0" algn="l">
              <a:lnSpc>
                <a:spcPct val="163636"/>
              </a:lnSpc>
              <a:spcBef>
                <a:spcPts val="0"/>
              </a:spcBef>
              <a:spcAft>
                <a:spcPts val="0"/>
              </a:spcAft>
              <a:buNone/>
            </a:pPr>
            <a:r>
              <a:rPr lang="en" sz="900">
                <a:solidFill>
                  <a:srgbClr val="AAAAAA"/>
                </a:solidFill>
                <a:highlight>
                  <a:srgbClr val="FFFFFF"/>
                </a:highlight>
                <a:latin typeface="Roboto"/>
                <a:ea typeface="Roboto"/>
                <a:cs typeface="Roboto"/>
                <a:sym typeface="Roboto"/>
              </a:rPr>
              <a:t>December 17, 2020</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Es muy fácil engañar a un cliente que busca un profesional y la certificación de seguridad que propone timbrit es optativa, la cosa es que en la aplicación esta lleno de personas que dicen ser, por ejemplo arquitecto y no cuentan con ninguna certificación. No es responsabilidad del cliente buscar un…</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August 21, 2020</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Llevo dos meses como Premium y no pagare el tercero la app casi no tiene notificaciones de trabajo ahora, si llegan una o dos solicitudes por dia es mucho, antes si valia la pena pagar, ya no.</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lnSpc>
                <a:spcPct val="163636"/>
              </a:lnSpc>
              <a:spcBef>
                <a:spcPts val="1200"/>
              </a:spcBef>
              <a:spcAft>
                <a:spcPts val="0"/>
              </a:spcAft>
              <a:buNone/>
            </a:pPr>
            <a:r>
              <a:rPr lang="en" sz="900">
                <a:solidFill>
                  <a:srgbClr val="AAAAAA"/>
                </a:solidFill>
                <a:highlight>
                  <a:srgbClr val="FFFFFF"/>
                </a:highlight>
                <a:latin typeface="Roboto"/>
                <a:ea typeface="Roboto"/>
                <a:cs typeface="Roboto"/>
                <a:sym typeface="Roboto"/>
              </a:rPr>
              <a:t>September 8, 2020</a:t>
            </a:r>
            <a:endParaRPr sz="900">
              <a:solidFill>
                <a:srgbClr val="AAAAAA"/>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333333"/>
                </a:solidFill>
                <a:highlight>
                  <a:srgbClr val="FFFFFF"/>
                </a:highlight>
                <a:latin typeface="Roboto"/>
                <a:ea typeface="Roboto"/>
                <a:cs typeface="Roboto"/>
                <a:sym typeface="Roboto"/>
              </a:rPr>
              <a:t>Que lata que uno tenga que pagar para que te lleguen solicitudes del servicio que uno ofrece.. acabo de leer los mensajes y me decepcione todas las app están cobrando.. 👎</a:t>
            </a:r>
            <a:endParaRPr sz="1050">
              <a:solidFill>
                <a:srgbClr val="333333"/>
              </a:solidFill>
              <a:highlight>
                <a:srgbClr val="FFFFFF"/>
              </a:highlight>
              <a:latin typeface="Roboto"/>
              <a:ea typeface="Roboto"/>
              <a:cs typeface="Roboto"/>
              <a:sym typeface="Roboto"/>
            </a:endParaRPr>
          </a:p>
          <a:p>
            <a:pPr indent="0" lvl="0" marL="0" rtl="0" algn="l">
              <a:spcBef>
                <a:spcPts val="0"/>
              </a:spcBef>
              <a:spcAft>
                <a:spcPts val="1200"/>
              </a:spcAft>
              <a:buNone/>
            </a:pPr>
            <a:r>
              <a:t/>
            </a:r>
            <a:endParaRPr/>
          </a:p>
        </p:txBody>
      </p:sp>
      <p:pic>
        <p:nvPicPr>
          <p:cNvPr id="127" name="Google Shape;127;p20"/>
          <p:cNvPicPr preferRelativeResize="0"/>
          <p:nvPr/>
        </p:nvPicPr>
        <p:blipFill>
          <a:blip r:embed="rId3">
            <a:alphaModFix/>
          </a:blip>
          <a:stretch>
            <a:fillRect/>
          </a:stretch>
        </p:blipFill>
        <p:spPr>
          <a:xfrm>
            <a:off x="1876350" y="1017725"/>
            <a:ext cx="572700" cy="572700"/>
          </a:xfrm>
          <a:prstGeom prst="rect">
            <a:avLst/>
          </a:prstGeom>
          <a:noFill/>
          <a:ln>
            <a:noFill/>
          </a:ln>
        </p:spPr>
      </p:pic>
      <p:pic>
        <p:nvPicPr>
          <p:cNvPr id="128" name="Google Shape;128;p20"/>
          <p:cNvPicPr preferRelativeResize="0"/>
          <p:nvPr/>
        </p:nvPicPr>
        <p:blipFill>
          <a:blip r:embed="rId4">
            <a:alphaModFix/>
          </a:blip>
          <a:stretch>
            <a:fillRect/>
          </a:stretch>
        </p:blipFill>
        <p:spPr>
          <a:xfrm>
            <a:off x="6528453" y="1000167"/>
            <a:ext cx="607800" cy="6078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Algunas notas periodísticas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idx="1" type="body"/>
          </p:nvPr>
        </p:nvSpPr>
        <p:spPr>
          <a:xfrm>
            <a:off x="230950" y="3574375"/>
            <a:ext cx="8520600" cy="10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875">
                <a:solidFill>
                  <a:srgbClr val="000000"/>
                </a:solidFill>
                <a:latin typeface="Georgia"/>
                <a:ea typeface="Georgia"/>
                <a:cs typeface="Georgia"/>
                <a:sym typeface="Georgia"/>
              </a:rPr>
              <a:t>Según el IAE, el 80 por ciento de los emprendimientos no dura más de dos años. No es el caso de </a:t>
            </a:r>
            <a:r>
              <a:rPr lang="en" sz="875">
                <a:solidFill>
                  <a:srgbClr val="000000"/>
                </a:solidFill>
                <a:uFill>
                  <a:noFill/>
                </a:uFill>
                <a:latin typeface="Georgia"/>
                <a:ea typeface="Georgia"/>
                <a:cs typeface="Georgia"/>
                <a:sym typeface="Georgia"/>
                <a:hlinkClick r:id="rId3">
                  <a:extLst>
                    <a:ext uri="{A12FA001-AC4F-418D-AE19-62706E023703}">
                      <ahyp:hlinkClr val="tx"/>
                    </a:ext>
                  </a:extLst>
                </a:hlinkClick>
              </a:rPr>
              <a:t>IguanaFix, que este año cumplirá los seis años de vida</a:t>
            </a:r>
            <a:r>
              <a:rPr lang="en" sz="875">
                <a:solidFill>
                  <a:srgbClr val="000000"/>
                </a:solidFill>
                <a:latin typeface="Georgia"/>
                <a:ea typeface="Georgia"/>
                <a:cs typeface="Georgia"/>
                <a:sym typeface="Georgia"/>
              </a:rPr>
              <a:t>. En 2017 habían levantado una inversión por US$16 M en una ronda liderada por el fondo Temasek (Singapur) con participación de Qualcomm Ventures e inversores existentes del fondo Riverwood Capital. Fue la segunda que tuvieron para financiar su expansión por Latinoamérica</a:t>
            </a:r>
            <a:r>
              <a:rPr lang="en" sz="875">
                <a:solidFill>
                  <a:srgbClr val="000000"/>
                </a:solidFill>
                <a:highlight>
                  <a:srgbClr val="FFFF00"/>
                </a:highlight>
                <a:latin typeface="Georgia"/>
                <a:ea typeface="Georgia"/>
                <a:cs typeface="Georgia"/>
                <a:sym typeface="Georgia"/>
              </a:rPr>
              <a:t>. Hoy, la realidad es distinta: la empresa atraviesa una etapa de cambios y reestructuración. La startup argentina abandonó su plataforma que conectaba profesionales de servicios con usuarios finales, y ahora solo trabajará en el segmento de empresas</a:t>
            </a:r>
            <a:r>
              <a:rPr lang="en" sz="875">
                <a:solidFill>
                  <a:srgbClr val="000000"/>
                </a:solidFill>
                <a:latin typeface="Georgia"/>
                <a:ea typeface="Georgia"/>
                <a:cs typeface="Georgia"/>
                <a:sym typeface="Georgia"/>
              </a:rPr>
              <a:t>. Además, dejó las oficinas de Humboldt y Cabrera (inauguradas el año pasado), despidió a 40 personas, aunque mantiene una plantilla de 100 empleados. </a:t>
            </a:r>
            <a:r>
              <a:rPr lang="en" sz="875">
                <a:solidFill>
                  <a:srgbClr val="000000"/>
                </a:solidFill>
                <a:highlight>
                  <a:srgbClr val="FFFF00"/>
                </a:highlight>
                <a:latin typeface="Georgia"/>
                <a:ea typeface="Georgia"/>
                <a:cs typeface="Georgia"/>
                <a:sym typeface="Georgia"/>
              </a:rPr>
              <a:t>"El negocio para usuario final consume mucha caja, le pasa a Uber, a Rappi y otras tantas, y a veces es difícil financiar el crecimiento", explicó </a:t>
            </a:r>
            <a:r>
              <a:rPr lang="en" sz="875">
                <a:solidFill>
                  <a:srgbClr val="000000"/>
                </a:solidFill>
                <a:highlight>
                  <a:srgbClr val="FFFF00"/>
                </a:highlight>
                <a:uFill>
                  <a:noFill/>
                </a:uFill>
                <a:latin typeface="Georgia"/>
                <a:ea typeface="Georgia"/>
                <a:cs typeface="Georgia"/>
                <a:sym typeface="Georgia"/>
                <a:hlinkClick r:id="rId4">
                  <a:extLst>
                    <a:ext uri="{A12FA001-AC4F-418D-AE19-62706E023703}">
                      <ahyp:hlinkClr val="tx"/>
                    </a:ext>
                  </a:extLst>
                </a:hlinkClick>
              </a:rPr>
              <a:t>Matías Recchia, el CEO de la compañía (y uno de sus fundadores)</a:t>
            </a:r>
            <a:r>
              <a:rPr lang="en" sz="875">
                <a:solidFill>
                  <a:srgbClr val="000000"/>
                </a:solidFill>
                <a:highlight>
                  <a:srgbClr val="FFFF00"/>
                </a:highlight>
                <a:latin typeface="Georgia"/>
                <a:ea typeface="Georgia"/>
                <a:cs typeface="Georgia"/>
                <a:sym typeface="Georgia"/>
              </a:rPr>
              <a:t>, a LA NACION</a:t>
            </a:r>
            <a:r>
              <a:rPr lang="en" sz="875">
                <a:solidFill>
                  <a:srgbClr val="000000"/>
                </a:solidFill>
                <a:latin typeface="Georgia"/>
                <a:ea typeface="Georgia"/>
                <a:cs typeface="Georgia"/>
                <a:sym typeface="Georgia"/>
              </a:rPr>
              <a:t>. "Las startups se tienen que reestructurar todo el tiempo y son siempre duros los cambios. Pero con estos cambios vamos a dejar de ser deficitarios para tener números más positivos", agregó.</a:t>
            </a:r>
            <a:endParaRPr sz="875">
              <a:solidFill>
                <a:srgbClr val="000000"/>
              </a:solidFill>
              <a:latin typeface="Georgia"/>
              <a:ea typeface="Georgia"/>
              <a:cs typeface="Georgia"/>
              <a:sym typeface="Georgia"/>
            </a:endParaRPr>
          </a:p>
          <a:p>
            <a:pPr indent="0" lvl="0" marL="0" rtl="0" algn="ctr">
              <a:spcBef>
                <a:spcPts val="2400"/>
              </a:spcBef>
              <a:spcAft>
                <a:spcPts val="1200"/>
              </a:spcAft>
              <a:buSzPts val="275"/>
              <a:buNone/>
            </a:pPr>
            <a:r>
              <a:t/>
            </a:r>
            <a:endParaRPr sz="1050"/>
          </a:p>
        </p:txBody>
      </p:sp>
      <p:pic>
        <p:nvPicPr>
          <p:cNvPr id="139" name="Google Shape;139;p22"/>
          <p:cNvPicPr preferRelativeResize="0"/>
          <p:nvPr/>
        </p:nvPicPr>
        <p:blipFill>
          <a:blip r:embed="rId5">
            <a:alphaModFix/>
          </a:blip>
          <a:stretch>
            <a:fillRect/>
          </a:stretch>
        </p:blipFill>
        <p:spPr>
          <a:xfrm>
            <a:off x="1158173" y="377025"/>
            <a:ext cx="6032350" cy="3100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idx="1" type="body"/>
          </p:nvPr>
        </p:nvSpPr>
        <p:spPr>
          <a:xfrm>
            <a:off x="379025" y="3820500"/>
            <a:ext cx="8520600" cy="1071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sz="1150">
                <a:solidFill>
                  <a:srgbClr val="222222"/>
                </a:solidFill>
                <a:highlight>
                  <a:srgbClr val="FFFFFF"/>
                </a:highlight>
                <a:latin typeface="Roboto"/>
                <a:ea typeface="Roboto"/>
                <a:cs typeface="Roboto"/>
                <a:sym typeface="Roboto"/>
              </a:rPr>
              <a:t>“Desde su nacimiento, esta aplicación revolucionó la forma de buscar y contratar servicios. Gasistas, electricistas, plomeros, todos tienen su espacio y su calificación en ClasApp. No podés equivocarte. Si tiene una buena puntuación, seguro que no te falla.”</a:t>
            </a:r>
            <a:endParaRPr sz="1150">
              <a:solidFill>
                <a:srgbClr val="222222"/>
              </a:solidFill>
              <a:highlight>
                <a:srgbClr val="FFFFFF"/>
              </a:highlight>
              <a:latin typeface="Roboto"/>
              <a:ea typeface="Roboto"/>
              <a:cs typeface="Roboto"/>
              <a:sym typeface="Roboto"/>
            </a:endParaRPr>
          </a:p>
          <a:p>
            <a:pPr indent="0" lvl="0" marL="0" rtl="0" algn="ctr">
              <a:spcBef>
                <a:spcPts val="1200"/>
              </a:spcBef>
              <a:spcAft>
                <a:spcPts val="1200"/>
              </a:spcAft>
              <a:buNone/>
            </a:pPr>
            <a:r>
              <a:rPr lang="en" sz="1150">
                <a:solidFill>
                  <a:srgbClr val="222222"/>
                </a:solidFill>
                <a:highlight>
                  <a:srgbClr val="FFFFFF"/>
                </a:highlight>
                <a:latin typeface="Roboto"/>
                <a:ea typeface="Roboto"/>
                <a:cs typeface="Roboto"/>
                <a:sym typeface="Roboto"/>
              </a:rPr>
              <a:t>“esta es la nueva forma de relacionarse, con dos identidades que no se excluyen mutuamente: la real y la virtual. En ambas debes cuidar tu imagen y ofrecer un buen servicio. El resto es la calificación que es complementario al “boca a boca”.</a:t>
            </a:r>
            <a:endParaRPr sz="1150">
              <a:solidFill>
                <a:srgbClr val="222222"/>
              </a:solidFill>
              <a:highlight>
                <a:srgbClr val="FFFFFF"/>
              </a:highlight>
              <a:latin typeface="Roboto"/>
              <a:ea typeface="Roboto"/>
              <a:cs typeface="Roboto"/>
              <a:sym typeface="Roboto"/>
            </a:endParaRPr>
          </a:p>
        </p:txBody>
      </p:sp>
      <p:pic>
        <p:nvPicPr>
          <p:cNvPr id="145" name="Google Shape;145;p23"/>
          <p:cNvPicPr preferRelativeResize="0"/>
          <p:nvPr/>
        </p:nvPicPr>
        <p:blipFill rotWithShape="1">
          <a:blip r:embed="rId3">
            <a:alphaModFix/>
          </a:blip>
          <a:srcRect b="6064" l="3071" r="27441" t="17372"/>
          <a:stretch/>
        </p:blipFill>
        <p:spPr>
          <a:xfrm>
            <a:off x="1265650" y="323175"/>
            <a:ext cx="5143502" cy="3187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