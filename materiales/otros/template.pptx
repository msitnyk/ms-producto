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y="5143500" cx="9144000"/>
  <p:notesSz cx="6858000" cy="9144000"/>
  <p:embeddedFontLst>
    <p:embeddedFont>
      <p:font typeface="Proxima Nova"/>
      <p:regular r:id="rId18"/>
      <p:bold r:id="rId19"/>
      <p:italic r:id="rId20"/>
      <p:boldItalic r:id="rId21"/>
    </p:embeddedFont>
    <p:embeddedFont>
      <p:font typeface="Source Code Pro"/>
      <p:regular r:id="rId22"/>
      <p:bold r:id="rId23"/>
      <p:italic r:id="rId24"/>
      <p:boldItalic r:id="rId25"/>
    </p:embeddedFont>
    <p:embeddedFont>
      <p:font typeface="Alfa Slab One"/>
      <p:regular r:id="rId2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ProximaNova-italic.fntdata"/><Relationship Id="rId22" Type="http://schemas.openxmlformats.org/officeDocument/2006/relationships/font" Target="fonts/SourceCodePro-regular.fntdata"/><Relationship Id="rId21" Type="http://schemas.openxmlformats.org/officeDocument/2006/relationships/font" Target="fonts/ProximaNova-boldItalic.fntdata"/><Relationship Id="rId24" Type="http://schemas.openxmlformats.org/officeDocument/2006/relationships/font" Target="fonts/SourceCodePro-italic.fntdata"/><Relationship Id="rId23" Type="http://schemas.openxmlformats.org/officeDocument/2006/relationships/font" Target="fonts/SourceCodePro-bold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AlfaSlabOne-regular.fntdata"/><Relationship Id="rId25" Type="http://schemas.openxmlformats.org/officeDocument/2006/relationships/font" Target="fonts/SourceCodePro-bold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font" Target="fonts/ProximaNova-bold.fntdata"/><Relationship Id="rId18" Type="http://schemas.openxmlformats.org/officeDocument/2006/relationships/font" Target="fonts/ProximaNova-regular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gc6f80d1ff_0_0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" name="Google Shape;54;gc6f80d1ff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gc6f80d1ff_0_5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" name="Google Shape;61;gc6f80d1ff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78b7dacdef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" name="Google Shape;67;g78b7dacdef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c6f80d1ff_0_10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gc6f80d1ff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78b7dacdef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78b7dacdef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c6f80d1ff_0_23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" name="Google Shape;98;gc6f80d1ff_0_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c6f80d1ff_0_27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" name="Google Shape;103;gc6f80d1ff_0_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c6f80d1ff_0_36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" name="Google Shape;113;gc6f80d1ff_0_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gc6f80d1ff_0_50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8" name="Google Shape;128;gc6f80d1ff_0_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c6f80d1ff_0_55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4" name="Google Shape;134;gc6f80d1ff_0_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c6f80d1ff_0_59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9" name="Google Shape;139;gc6f80d1ff_0_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c6f80d1ff_0_66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c6f80d1ff_0_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Google Shape;10;p2"/>
          <p:cNvCxnSpPr/>
          <p:nvPr/>
        </p:nvCxnSpPr>
        <p:spPr>
          <a:xfrm>
            <a:off x="4278300" y="2751163"/>
            <a:ext cx="587400" cy="0"/>
          </a:xfrm>
          <a:prstGeom prst="straightConnector1">
            <a:avLst/>
          </a:prstGeom>
          <a:noFill/>
          <a:ln cap="flat" cmpd="sng" w="762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1" name="Google Shape;11;p2"/>
          <p:cNvSpPr txBox="1"/>
          <p:nvPr>
            <p:ph type="ctrTitle"/>
          </p:nvPr>
        </p:nvSpPr>
        <p:spPr>
          <a:xfrm>
            <a:off x="311700" y="595975"/>
            <a:ext cx="8520600" cy="1957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1pPr>
            <a:lvl2pPr lvl="1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2pPr>
            <a:lvl3pPr lvl="2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3pPr>
            <a:lvl4pPr lvl="3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4pPr>
            <a:lvl5pPr lvl="4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5pPr>
            <a:lvl6pPr lvl="5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6pPr>
            <a:lvl7pPr lvl="6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7pPr>
            <a:lvl8pPr lvl="7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8pPr>
            <a:lvl9pPr lvl="8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9pPr>
          </a:lstStyle>
          <a:p/>
        </p:txBody>
      </p:sp>
      <p:sp>
        <p:nvSpPr>
          <p:cNvPr id="12" name="Google Shape;12;p2"/>
          <p:cNvSpPr txBox="1"/>
          <p:nvPr>
            <p:ph idx="1" type="subTitle"/>
          </p:nvPr>
        </p:nvSpPr>
        <p:spPr>
          <a:xfrm>
            <a:off x="311700" y="3165823"/>
            <a:ext cx="8520600" cy="73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13" name="Google Shape;13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3"/>
          <p:cNvSpPr txBox="1"/>
          <p:nvPr>
            <p:ph type="title"/>
          </p:nvPr>
        </p:nvSpPr>
        <p:spPr>
          <a:xfrm>
            <a:off x="311700" y="2480550"/>
            <a:ext cx="8114400" cy="2445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800"/>
              <a:buNone/>
              <a:defRPr sz="6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800"/>
              <a:buNone/>
              <a:defRPr sz="6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800"/>
              <a:buNone/>
              <a:defRPr sz="6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800"/>
              <a:buNone/>
              <a:defRPr sz="6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800"/>
              <a:buNone/>
              <a:defRPr sz="6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800"/>
              <a:buNone/>
              <a:defRPr sz="6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800"/>
              <a:buNone/>
              <a:defRPr sz="6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800"/>
              <a:buNone/>
              <a:defRPr sz="6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800"/>
              <a:buNone/>
              <a:defRPr sz="6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6" name="Google Shape;16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0" name="Google Shape;20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3" name="Google Shape;23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5" name="Google Shape;25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8" name="Google Shape;28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"/>
          <p:cNvSpPr txBox="1"/>
          <p:nvPr>
            <p:ph type="title"/>
          </p:nvPr>
        </p:nvSpPr>
        <p:spPr>
          <a:xfrm>
            <a:off x="311700" y="6318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1" name="Google Shape;31;p7"/>
          <p:cNvSpPr txBox="1"/>
          <p:nvPr>
            <p:ph idx="1" type="body"/>
          </p:nvPr>
        </p:nvSpPr>
        <p:spPr>
          <a:xfrm>
            <a:off x="311700" y="1490875"/>
            <a:ext cx="2808000" cy="307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2" name="Google Shape;32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3"/>
        </a:solidFill>
      </p:bgPr>
    </p:bg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8"/>
          <p:cNvSpPr txBox="1"/>
          <p:nvPr>
            <p:ph type="title"/>
          </p:nvPr>
        </p:nvSpPr>
        <p:spPr>
          <a:xfrm>
            <a:off x="490250" y="526350"/>
            <a:ext cx="5683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5" name="Google Shape;35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9"/>
          <p:cNvSpPr/>
          <p:nvPr/>
        </p:nvSpPr>
        <p:spPr>
          <a:xfrm>
            <a:off x="4572000" y="100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38" name="Google Shape;38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9" name="Google Shape;39;p9"/>
          <p:cNvSpPr txBox="1"/>
          <p:nvPr>
            <p:ph type="title"/>
          </p:nvPr>
        </p:nvSpPr>
        <p:spPr>
          <a:xfrm>
            <a:off x="265500" y="1375599"/>
            <a:ext cx="4045200" cy="1551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1pPr>
            <a:lvl2pPr lvl="1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2pPr>
            <a:lvl3pPr lvl="2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3pPr>
            <a:lvl4pPr lvl="3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4pPr>
            <a:lvl5pPr lvl="4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5pPr>
            <a:lvl6pPr lvl="5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6pPr>
            <a:lvl7pPr lvl="6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7pPr>
            <a:lvl8pPr lvl="7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8pPr>
            <a:lvl9pPr lvl="8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9pPr>
          </a:lstStyle>
          <a:p/>
        </p:txBody>
      </p:sp>
      <p:sp>
        <p:nvSpPr>
          <p:cNvPr id="40" name="Google Shape;40;p9"/>
          <p:cNvSpPr txBox="1"/>
          <p:nvPr>
            <p:ph idx="1" type="subTitle"/>
          </p:nvPr>
        </p:nvSpPr>
        <p:spPr>
          <a:xfrm>
            <a:off x="265500" y="2981125"/>
            <a:ext cx="4045200" cy="134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41" name="Google Shape;41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2" name="Google Shape;42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10"/>
          <p:cNvSpPr txBox="1"/>
          <p:nvPr>
            <p:ph idx="1" type="body"/>
          </p:nvPr>
        </p:nvSpPr>
        <p:spPr>
          <a:xfrm>
            <a:off x="319500" y="4233725"/>
            <a:ext cx="5998800" cy="59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Alfa Slab One"/>
              <a:buNone/>
              <a:defRPr>
                <a:solidFill>
                  <a:schemeClr val="accent3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1pPr>
          </a:lstStyle>
          <a:p/>
        </p:txBody>
      </p:sp>
      <p:sp>
        <p:nvSpPr>
          <p:cNvPr id="45" name="Google Shape;45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1"/>
          <p:cNvSpPr txBox="1"/>
          <p:nvPr>
            <p:ph hasCustomPrompt="1" type="title"/>
          </p:nvPr>
        </p:nvSpPr>
        <p:spPr>
          <a:xfrm>
            <a:off x="311700" y="1167925"/>
            <a:ext cx="8520600" cy="1980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0"/>
              <a:buNone/>
              <a:defRPr sz="11000">
                <a:solidFill>
                  <a:schemeClr val="dk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0"/>
              <a:buNone/>
              <a:defRPr sz="11000">
                <a:solidFill>
                  <a:schemeClr val="dk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0"/>
              <a:buNone/>
              <a:defRPr sz="11000">
                <a:solidFill>
                  <a:schemeClr val="dk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0"/>
              <a:buNone/>
              <a:defRPr sz="11000">
                <a:solidFill>
                  <a:schemeClr val="dk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0"/>
              <a:buNone/>
              <a:defRPr sz="11000">
                <a:solidFill>
                  <a:schemeClr val="dk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0"/>
              <a:buNone/>
              <a:defRPr sz="11000">
                <a:solidFill>
                  <a:schemeClr val="dk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0"/>
              <a:buNone/>
              <a:defRPr sz="11000">
                <a:solidFill>
                  <a:schemeClr val="dk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0"/>
              <a:buNone/>
              <a:defRPr sz="11000">
                <a:solidFill>
                  <a:schemeClr val="dk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0"/>
              <a:buNone/>
              <a:defRPr sz="11000">
                <a:solidFill>
                  <a:schemeClr val="dk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48" name="Google Shape;48;p11"/>
          <p:cNvSpPr txBox="1"/>
          <p:nvPr>
            <p:ph idx="1" type="body"/>
          </p:nvPr>
        </p:nvSpPr>
        <p:spPr>
          <a:xfrm>
            <a:off x="311700" y="3224250"/>
            <a:ext cx="8520600" cy="107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9" name="Google Shape;49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gameday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Alfa Slab One"/>
              <a:buNone/>
              <a:defRPr sz="3000">
                <a:solidFill>
                  <a:schemeClr val="accent3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Alfa Slab One"/>
              <a:buNone/>
              <a:defRPr sz="3000">
                <a:solidFill>
                  <a:schemeClr val="accent3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Alfa Slab One"/>
              <a:buNone/>
              <a:defRPr sz="3000">
                <a:solidFill>
                  <a:schemeClr val="accent3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Alfa Slab One"/>
              <a:buNone/>
              <a:defRPr sz="3000">
                <a:solidFill>
                  <a:schemeClr val="accent3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Alfa Slab One"/>
              <a:buNone/>
              <a:defRPr sz="3000">
                <a:solidFill>
                  <a:schemeClr val="accent3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Alfa Slab One"/>
              <a:buNone/>
              <a:defRPr sz="3000">
                <a:solidFill>
                  <a:schemeClr val="accent3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Alfa Slab One"/>
              <a:buNone/>
              <a:defRPr sz="3000">
                <a:solidFill>
                  <a:schemeClr val="accent3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Alfa Slab One"/>
              <a:buNone/>
              <a:defRPr sz="3000">
                <a:solidFill>
                  <a:schemeClr val="accent3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Alfa Slab One"/>
              <a:buNone/>
              <a:defRPr sz="3000">
                <a:solidFill>
                  <a:schemeClr val="accent3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Proxima Nova"/>
              <a:buChar char="●"/>
              <a:defRPr sz="18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roxima Nova"/>
              <a:buChar char="○"/>
              <a:defRPr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roxima Nova"/>
              <a:buChar char="■"/>
              <a:defRPr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roxima Nova"/>
              <a:buChar char="●"/>
              <a:defRPr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roxima Nova"/>
              <a:buChar char="○"/>
              <a:defRPr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roxima Nova"/>
              <a:buChar char="■"/>
              <a:defRPr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roxima Nova"/>
              <a:buChar char="●"/>
              <a:defRPr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roxima Nova"/>
              <a:buChar char="○"/>
              <a:defRPr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roxima Nova"/>
              <a:buChar char="■"/>
              <a:defRPr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lvl="1" algn="r">
              <a:buNone/>
              <a:defRPr sz="10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lvl="2" algn="r">
              <a:buNone/>
              <a:defRPr sz="10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lvl="3" algn="r">
              <a:buNone/>
              <a:defRPr sz="10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lvl="4" algn="r">
              <a:buNone/>
              <a:defRPr sz="10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lvl="5" algn="r">
              <a:buNone/>
              <a:defRPr sz="10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lvl="6" algn="r">
              <a:buNone/>
              <a:defRPr sz="10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lvl="7" algn="r">
              <a:buNone/>
              <a:defRPr sz="10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lvl="8" algn="r">
              <a:buNone/>
              <a:defRPr sz="10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5.png"/><Relationship Id="rId4" Type="http://schemas.openxmlformats.org/officeDocument/2006/relationships/image" Target="../media/image4.png"/><Relationship Id="rId5" Type="http://schemas.openxmlformats.org/officeDocument/2006/relationships/image" Target="../media/image2.png"/><Relationship Id="rId6" Type="http://schemas.openxmlformats.org/officeDocument/2006/relationships/image" Target="../media/image5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3.jpg"/><Relationship Id="rId4" Type="http://schemas.openxmlformats.org/officeDocument/2006/relationships/image" Target="../media/image6.jpg"/><Relationship Id="rId5" Type="http://schemas.openxmlformats.org/officeDocument/2006/relationships/image" Target="../media/image11.jpg"/><Relationship Id="rId6" Type="http://schemas.openxmlformats.org/officeDocument/2006/relationships/image" Target="../media/image9.jpg"/><Relationship Id="rId7" Type="http://schemas.openxmlformats.org/officeDocument/2006/relationships/image" Target="../media/image7.jp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3.jpg"/><Relationship Id="rId4" Type="http://schemas.openxmlformats.org/officeDocument/2006/relationships/image" Target="../media/image14.jpg"/><Relationship Id="rId5" Type="http://schemas.openxmlformats.org/officeDocument/2006/relationships/image" Target="../media/image8.jpg"/><Relationship Id="rId6" Type="http://schemas.openxmlformats.org/officeDocument/2006/relationships/image" Target="../media/image10.jp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2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3"/>
          <p:cNvSpPr txBox="1"/>
          <p:nvPr>
            <p:ph type="ctrTitle"/>
          </p:nvPr>
        </p:nvSpPr>
        <p:spPr>
          <a:xfrm>
            <a:off x="2856900" y="4410000"/>
            <a:ext cx="6287100" cy="73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/>
              <a:t>Martin Sitnyk- Curso UX UI 2021</a:t>
            </a:r>
            <a:endParaRPr sz="1400"/>
          </a:p>
        </p:txBody>
      </p:sp>
      <p:sp>
        <p:nvSpPr>
          <p:cNvPr id="57" name="Google Shape;57;p13"/>
          <p:cNvSpPr txBox="1"/>
          <p:nvPr>
            <p:ph idx="1" type="subTitle"/>
          </p:nvPr>
        </p:nvSpPr>
        <p:spPr>
          <a:xfrm>
            <a:off x="311700" y="3165823"/>
            <a:ext cx="8520600" cy="73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Oficios Diversos</a:t>
            </a:r>
            <a:endParaRPr/>
          </a:p>
        </p:txBody>
      </p:sp>
      <p:pic>
        <p:nvPicPr>
          <p:cNvPr id="58" name="Google Shape;58;p13"/>
          <p:cNvPicPr preferRelativeResize="0"/>
          <p:nvPr/>
        </p:nvPicPr>
        <p:blipFill rotWithShape="1">
          <a:blip r:embed="rId3">
            <a:alphaModFix/>
          </a:blip>
          <a:srcRect b="19737" l="0" r="0" t="0"/>
          <a:stretch/>
        </p:blipFill>
        <p:spPr>
          <a:xfrm>
            <a:off x="3253850" y="1315750"/>
            <a:ext cx="2768851" cy="11598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Insights</a:t>
            </a:r>
            <a:r>
              <a:rPr lang="en"/>
              <a:t> del Mercado</a:t>
            </a:r>
            <a:endParaRPr/>
          </a:p>
        </p:txBody>
      </p:sp>
      <p:sp>
        <p:nvSpPr>
          <p:cNvPr id="64" name="Google Shape;64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¿</a:t>
            </a:r>
            <a:r>
              <a:rPr lang="en"/>
              <a:t>Sabías</a:t>
            </a:r>
            <a:r>
              <a:rPr lang="en"/>
              <a:t> que unos de los principales gastos de una vivienda (casa o departamento) son los de mantenimientos? (</a:t>
            </a:r>
            <a:r>
              <a:rPr lang="en"/>
              <a:t>Fuente</a:t>
            </a:r>
            <a:r>
              <a:rPr lang="en"/>
              <a:t> google , y housell.com)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-Los oficios más buscados durante el 2020 fueron: electricistas, albañiles y pileteros (fuentes diarios locales, trends google)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-Las recomendaciones </a:t>
            </a:r>
            <a:r>
              <a:rPr lang="en"/>
              <a:t>más</a:t>
            </a:r>
            <a:r>
              <a:rPr lang="en"/>
              <a:t> utilizadas para elegir una persona que </a:t>
            </a:r>
            <a:r>
              <a:rPr lang="en"/>
              <a:t>realice</a:t>
            </a:r>
            <a:r>
              <a:rPr lang="en"/>
              <a:t> un oficio son: el</a:t>
            </a:r>
            <a:r>
              <a:rPr lang="en"/>
              <a:t> boca en boca (</a:t>
            </a:r>
            <a:r>
              <a:rPr lang="en"/>
              <a:t>Recomendación, referencias</a:t>
            </a:r>
            <a:r>
              <a:rPr lang="en"/>
              <a:t> de  amigos y familiares), el presupuesto, la experiencia, la cercanía, entre otros.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5"/>
          <p:cNvSpPr txBox="1"/>
          <p:nvPr>
            <p:ph type="title"/>
          </p:nvPr>
        </p:nvSpPr>
        <p:spPr>
          <a:xfrm>
            <a:off x="311700" y="1622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OFIDI</a:t>
            </a:r>
            <a:endParaRPr/>
          </a:p>
        </p:txBody>
      </p:sp>
      <p:sp>
        <p:nvSpPr>
          <p:cNvPr id="70" name="Google Shape;70;p15"/>
          <p:cNvSpPr txBox="1"/>
          <p:nvPr>
            <p:ph idx="1" type="body"/>
          </p:nvPr>
        </p:nvSpPr>
        <p:spPr>
          <a:xfrm>
            <a:off x="0" y="950500"/>
            <a:ext cx="3186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Problemáticas</a:t>
            </a:r>
            <a:endParaRPr b="1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	Encontrar de una manera sencilla a personas que realicen oficios(*) de una manera centralizada. Muchas de estas </a:t>
            </a:r>
            <a:r>
              <a:rPr lang="en"/>
              <a:t>búsquedas</a:t>
            </a:r>
            <a:r>
              <a:rPr lang="en"/>
              <a:t> se basan en reputaciones y recomendaciones mediante conocidos. Estos oficios quizás no </a:t>
            </a:r>
            <a:r>
              <a:rPr lang="en"/>
              <a:t>están</a:t>
            </a:r>
            <a:r>
              <a:rPr lang="en"/>
              <a:t> familiarizados con el </a:t>
            </a:r>
            <a:r>
              <a:rPr lang="en"/>
              <a:t>ámbito</a:t>
            </a:r>
            <a:r>
              <a:rPr lang="en"/>
              <a:t> digital o tecnologías.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Se detectan aplicaciones similares en el mercado, las cuales ofrecen un contacto continuo con la </a:t>
            </a:r>
            <a:r>
              <a:rPr lang="en"/>
              <a:t>tecnología o la aplicación.</a:t>
            </a:r>
            <a:r>
              <a:rPr lang="en"/>
              <a:t> </a:t>
            </a:r>
            <a:endParaRPr/>
          </a:p>
        </p:txBody>
      </p:sp>
      <p:sp>
        <p:nvSpPr>
          <p:cNvPr id="71" name="Google Shape;71;p15"/>
          <p:cNvSpPr txBox="1"/>
          <p:nvPr>
            <p:ph idx="2" type="body"/>
          </p:nvPr>
        </p:nvSpPr>
        <p:spPr>
          <a:xfrm>
            <a:off x="3310875" y="950500"/>
            <a:ext cx="28020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Objetivos</a:t>
            </a:r>
            <a:endParaRPr b="1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Brindar una opción para facilitar la búsquedas </a:t>
            </a:r>
            <a:r>
              <a:rPr lang="en"/>
              <a:t>de personas</a:t>
            </a:r>
            <a:r>
              <a:rPr lang="en"/>
              <a:t> que realizan un oficio.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Ofrecer un medio para que estos </a:t>
            </a:r>
            <a:r>
              <a:rPr lang="en"/>
              <a:t>últimos</a:t>
            </a:r>
            <a:r>
              <a:rPr lang="en"/>
              <a:t> puedan ser conocidos mediante su reputación.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72" name="Google Shape;72;p15"/>
          <p:cNvSpPr txBox="1"/>
          <p:nvPr>
            <p:ph idx="1" type="body"/>
          </p:nvPr>
        </p:nvSpPr>
        <p:spPr>
          <a:xfrm>
            <a:off x="70775" y="4434125"/>
            <a:ext cx="86961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75"/>
              <a:buNone/>
            </a:pPr>
            <a:r>
              <a:rPr lang="en" sz="850"/>
              <a:t>(*)Oficios: albañiles, plomeros, gasistas, herreros, cerrajeros, </a:t>
            </a:r>
            <a:r>
              <a:rPr lang="en" sz="850"/>
              <a:t>mecánicos</a:t>
            </a:r>
            <a:r>
              <a:rPr lang="en" sz="850"/>
              <a:t>, parqueros, electricistas, entre otros.</a:t>
            </a:r>
            <a:endParaRPr sz="850"/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275"/>
              <a:buNone/>
            </a:pPr>
            <a:r>
              <a:rPr lang="en" sz="850"/>
              <a:t>(**) Vale aclarar la solución </a:t>
            </a:r>
            <a:r>
              <a:rPr lang="en" sz="850"/>
              <a:t>está</a:t>
            </a:r>
            <a:r>
              <a:rPr lang="en" sz="850"/>
              <a:t> pensando en un principio para la ciudad de La Plata. </a:t>
            </a:r>
            <a:endParaRPr sz="850"/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1200"/>
              </a:spcAft>
              <a:buSzPts val="275"/>
              <a:buNone/>
            </a:pPr>
            <a:r>
              <a:rPr lang="en" sz="850"/>
              <a:t> </a:t>
            </a:r>
            <a:r>
              <a:rPr lang="en" sz="850"/>
              <a:t> </a:t>
            </a:r>
            <a:endParaRPr sz="850"/>
          </a:p>
        </p:txBody>
      </p:sp>
      <p:sp>
        <p:nvSpPr>
          <p:cNvPr id="73" name="Google Shape;73;p15"/>
          <p:cNvSpPr txBox="1"/>
          <p:nvPr>
            <p:ph idx="2" type="body"/>
          </p:nvPr>
        </p:nvSpPr>
        <p:spPr>
          <a:xfrm>
            <a:off x="6236850" y="1017725"/>
            <a:ext cx="28020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Solución (**)</a:t>
            </a:r>
            <a:endParaRPr b="1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u="sng"/>
              <a:t>Para la persona que busca</a:t>
            </a:r>
            <a:r>
              <a:rPr lang="en"/>
              <a:t>: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Encontrar y contactar de una manera sencilla y segura a personas que realicen oficios.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u="sng"/>
              <a:t>Para la persona que realice el oficio</a:t>
            </a:r>
            <a:r>
              <a:rPr lang="en"/>
              <a:t>: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Poder ser conocido, encontrado y recomendado por los clientes. 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8" name="Google Shape;78;p16"/>
          <p:cNvCxnSpPr/>
          <p:nvPr/>
        </p:nvCxnSpPr>
        <p:spPr>
          <a:xfrm>
            <a:off x="-6875" y="2900700"/>
            <a:ext cx="91509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79" name="Google Shape;79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Principales competidores</a:t>
            </a:r>
            <a:endParaRPr/>
          </a:p>
        </p:txBody>
      </p:sp>
      <p:sp>
        <p:nvSpPr>
          <p:cNvPr id="80" name="Google Shape;80;p16"/>
          <p:cNvSpPr/>
          <p:nvPr/>
        </p:nvSpPr>
        <p:spPr>
          <a:xfrm>
            <a:off x="421176" y="2235693"/>
            <a:ext cx="1329900" cy="13299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" name="Google Shape;81;p16"/>
          <p:cNvSpPr txBox="1"/>
          <p:nvPr/>
        </p:nvSpPr>
        <p:spPr>
          <a:xfrm>
            <a:off x="421225" y="2596750"/>
            <a:ext cx="1329900" cy="60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Redes Sociales</a:t>
            </a:r>
            <a:endParaRPr>
              <a:solidFill>
                <a:schemeClr val="lt1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(FBK, instagram)</a:t>
            </a:r>
            <a:endParaRPr>
              <a:solidFill>
                <a:schemeClr val="lt1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  <p:sp>
        <p:nvSpPr>
          <p:cNvPr id="82" name="Google Shape;82;p16"/>
          <p:cNvSpPr/>
          <p:nvPr/>
        </p:nvSpPr>
        <p:spPr>
          <a:xfrm>
            <a:off x="2253122" y="1423415"/>
            <a:ext cx="2954700" cy="29547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" name="Google Shape;83;p16"/>
          <p:cNvSpPr txBox="1"/>
          <p:nvPr/>
        </p:nvSpPr>
        <p:spPr>
          <a:xfrm>
            <a:off x="2253125" y="2596750"/>
            <a:ext cx="2954700" cy="60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chemeClr val="lt1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Timbrit</a:t>
            </a:r>
            <a:endParaRPr sz="3000">
              <a:solidFill>
                <a:schemeClr val="lt1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  <p:sp>
        <p:nvSpPr>
          <p:cNvPr id="84" name="Google Shape;84;p16"/>
          <p:cNvSpPr/>
          <p:nvPr/>
        </p:nvSpPr>
        <p:spPr>
          <a:xfrm>
            <a:off x="5709626" y="2147440"/>
            <a:ext cx="1506600" cy="15066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" name="Google Shape;85;p16"/>
          <p:cNvSpPr txBox="1"/>
          <p:nvPr/>
        </p:nvSpPr>
        <p:spPr>
          <a:xfrm>
            <a:off x="5709825" y="2596750"/>
            <a:ext cx="1506600" cy="60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lt1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IguanaFix</a:t>
            </a:r>
            <a:endParaRPr sz="1800">
              <a:solidFill>
                <a:schemeClr val="lt1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  <p:sp>
        <p:nvSpPr>
          <p:cNvPr id="86" name="Google Shape;86;p16"/>
          <p:cNvSpPr/>
          <p:nvPr/>
        </p:nvSpPr>
        <p:spPr>
          <a:xfrm>
            <a:off x="7718079" y="2394636"/>
            <a:ext cx="1012500" cy="10122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16"/>
          <p:cNvSpPr txBox="1"/>
          <p:nvPr/>
        </p:nvSpPr>
        <p:spPr>
          <a:xfrm>
            <a:off x="7718425" y="2596750"/>
            <a:ext cx="1012500" cy="60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lt1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Otros (Class Apps)</a:t>
            </a:r>
            <a:endParaRPr sz="1500">
              <a:solidFill>
                <a:schemeClr val="lt1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7"/>
          <p:cNvSpPr txBox="1"/>
          <p:nvPr>
            <p:ph type="title"/>
          </p:nvPr>
        </p:nvSpPr>
        <p:spPr>
          <a:xfrm>
            <a:off x="461400" y="80775"/>
            <a:ext cx="8682600" cy="1707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5000"/>
              <a:t>Oportunidades</a:t>
            </a:r>
            <a:endParaRPr sz="5000"/>
          </a:p>
        </p:txBody>
      </p:sp>
      <p:sp>
        <p:nvSpPr>
          <p:cNvPr id="93" name="Google Shape;93;p17"/>
          <p:cNvSpPr txBox="1"/>
          <p:nvPr>
            <p:ph idx="1" type="body"/>
          </p:nvPr>
        </p:nvSpPr>
        <p:spPr>
          <a:xfrm>
            <a:off x="311700" y="1500150"/>
            <a:ext cx="8520600" cy="107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440"/>
              <a:buNone/>
            </a:pPr>
            <a:r>
              <a:rPr lang="en" sz="1020"/>
              <a:t>Extensión de oficios con solo crear una nueva </a:t>
            </a:r>
            <a:r>
              <a:rPr lang="en" sz="1020"/>
              <a:t>categoría</a:t>
            </a:r>
            <a:r>
              <a:rPr lang="en" sz="1020"/>
              <a:t> (por ej profesores de inglés, maestros particulares, etc)</a:t>
            </a:r>
            <a:endParaRPr sz="1020"/>
          </a:p>
          <a:p>
            <a:pPr indent="0" lvl="0" marL="0" rtl="0" algn="ctr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440"/>
              <a:buNone/>
            </a:pPr>
            <a:r>
              <a:rPr lang="en" sz="1020"/>
              <a:t>Apertura para nuevas ciudades o mercados. </a:t>
            </a:r>
            <a:endParaRPr sz="1020"/>
          </a:p>
          <a:p>
            <a:pPr indent="0" lvl="0" marL="0" rtl="0" algn="ctr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440"/>
              <a:buNone/>
            </a:pPr>
            <a:r>
              <a:rPr lang="en" sz="1020"/>
              <a:t>Soluciones no muy conocidas en el mercado</a:t>
            </a:r>
            <a:endParaRPr sz="1020"/>
          </a:p>
          <a:p>
            <a:pPr indent="0" lvl="0" marL="0" rtl="0" algn="ctr">
              <a:lnSpc>
                <a:spcPct val="95000"/>
              </a:lnSpc>
              <a:spcBef>
                <a:spcPts val="1200"/>
              </a:spcBef>
              <a:spcAft>
                <a:spcPts val="1200"/>
              </a:spcAft>
              <a:buSzPts val="440"/>
              <a:buNone/>
            </a:pPr>
            <a:r>
              <a:t/>
            </a:r>
            <a:endParaRPr sz="1020"/>
          </a:p>
        </p:txBody>
      </p:sp>
      <p:sp>
        <p:nvSpPr>
          <p:cNvPr id="94" name="Google Shape;94;p17"/>
          <p:cNvSpPr txBox="1"/>
          <p:nvPr>
            <p:ph type="title"/>
          </p:nvPr>
        </p:nvSpPr>
        <p:spPr>
          <a:xfrm>
            <a:off x="461400" y="2414450"/>
            <a:ext cx="8682600" cy="1707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5000"/>
              <a:t>Amenazas</a:t>
            </a:r>
            <a:endParaRPr sz="5000"/>
          </a:p>
        </p:txBody>
      </p:sp>
      <p:sp>
        <p:nvSpPr>
          <p:cNvPr id="95" name="Google Shape;95;p17"/>
          <p:cNvSpPr txBox="1"/>
          <p:nvPr>
            <p:ph idx="1" type="body"/>
          </p:nvPr>
        </p:nvSpPr>
        <p:spPr>
          <a:xfrm>
            <a:off x="461400" y="3887675"/>
            <a:ext cx="8520600" cy="107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440"/>
              <a:buNone/>
            </a:pPr>
            <a:r>
              <a:rPr lang="en" sz="1020"/>
              <a:t>Uso de la tecnología</a:t>
            </a:r>
            <a:endParaRPr sz="1020"/>
          </a:p>
          <a:p>
            <a:pPr indent="0" lvl="0" marL="0" rtl="0" algn="ctr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440"/>
              <a:buNone/>
            </a:pPr>
            <a:r>
              <a:rPr lang="en" sz="1020"/>
              <a:t>Elección y crecimiento del competidor.</a:t>
            </a:r>
            <a:endParaRPr sz="1020"/>
          </a:p>
          <a:p>
            <a:pPr indent="0" lvl="0" marL="0" rtl="0" algn="ctr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440"/>
              <a:buNone/>
            </a:pPr>
            <a:r>
              <a:rPr lang="en" sz="1020"/>
              <a:t>Desconfianza en la información </a:t>
            </a:r>
            <a:endParaRPr sz="1020"/>
          </a:p>
          <a:p>
            <a:pPr indent="0" lvl="0" marL="0" rtl="0" algn="ctr">
              <a:lnSpc>
                <a:spcPct val="95000"/>
              </a:lnSpc>
              <a:spcBef>
                <a:spcPts val="1200"/>
              </a:spcBef>
              <a:spcAft>
                <a:spcPts val="1200"/>
              </a:spcAft>
              <a:buSzPts val="440"/>
              <a:buNone/>
            </a:pPr>
            <a:r>
              <a:t/>
            </a:r>
            <a:endParaRPr sz="102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18"/>
          <p:cNvSpPr txBox="1"/>
          <p:nvPr>
            <p:ph type="title"/>
          </p:nvPr>
        </p:nvSpPr>
        <p:spPr>
          <a:xfrm>
            <a:off x="311700" y="2480550"/>
            <a:ext cx="8114400" cy="2445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Portfolio samples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19"/>
          <p:cNvSpPr txBox="1"/>
          <p:nvPr>
            <p:ph type="title"/>
          </p:nvPr>
        </p:nvSpPr>
        <p:spPr>
          <a:xfrm>
            <a:off x="311700" y="6318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Project name</a:t>
            </a:r>
            <a:endParaRPr/>
          </a:p>
        </p:txBody>
      </p:sp>
      <p:sp>
        <p:nvSpPr>
          <p:cNvPr id="106" name="Google Shape;106;p19"/>
          <p:cNvSpPr txBox="1"/>
          <p:nvPr>
            <p:ph idx="1" type="body"/>
          </p:nvPr>
        </p:nvSpPr>
        <p:spPr>
          <a:xfrm>
            <a:off x="311700" y="1490875"/>
            <a:ext cx="2808000" cy="307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Lorem ipsum dolor sit amet, consectetur adipiscing elit, sed do eiusmod tempor incididunt ut labore et dolore magna aliqua</a:t>
            </a:r>
            <a:endParaRPr/>
          </a:p>
        </p:txBody>
      </p:sp>
      <p:pic>
        <p:nvPicPr>
          <p:cNvPr descr="Open Chromebook laptop computer" id="107" name="Google Shape;107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452975" y="697325"/>
            <a:ext cx="5591976" cy="3316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Sample wireframe for desktop application" id="108" name="Google Shape;108;p19"/>
          <p:cNvPicPr preferRelativeResize="0"/>
          <p:nvPr/>
        </p:nvPicPr>
        <p:blipFill rotWithShape="1">
          <a:blip r:embed="rId4">
            <a:alphaModFix/>
          </a:blip>
          <a:srcRect b="24801" l="0" r="0" t="0"/>
          <a:stretch/>
        </p:blipFill>
        <p:spPr>
          <a:xfrm>
            <a:off x="4131700" y="978250"/>
            <a:ext cx="4142049" cy="233594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ortrait-oriented black smaptphone" id="109" name="Google Shape;109;p1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188601" y="1585375"/>
            <a:ext cx="1675825" cy="329129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Sample wireframe for mobile application" id="110" name="Google Shape;110;p19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7269175" y="1858795"/>
            <a:ext cx="1514675" cy="269275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15" name="Google Shape;115;p20"/>
          <p:cNvCxnSpPr/>
          <p:nvPr/>
        </p:nvCxnSpPr>
        <p:spPr>
          <a:xfrm>
            <a:off x="433425" y="3724283"/>
            <a:ext cx="3891000" cy="0"/>
          </a:xfrm>
          <a:prstGeom prst="straightConnector1">
            <a:avLst/>
          </a:prstGeom>
          <a:noFill/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6" name="Google Shape;116;p20"/>
          <p:cNvCxnSpPr/>
          <p:nvPr/>
        </p:nvCxnSpPr>
        <p:spPr>
          <a:xfrm>
            <a:off x="4941300" y="3724283"/>
            <a:ext cx="3891000" cy="0"/>
          </a:xfrm>
          <a:prstGeom prst="straightConnector1">
            <a:avLst/>
          </a:prstGeom>
          <a:noFill/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id="117" name="Google Shape;117;p20"/>
          <p:cNvPicPr preferRelativeResize="0"/>
          <p:nvPr/>
        </p:nvPicPr>
        <p:blipFill rotWithShape="1">
          <a:blip r:embed="rId3">
            <a:alphaModFix/>
          </a:blip>
          <a:srcRect b="0" l="5414" r="2505" t="0"/>
          <a:stretch/>
        </p:blipFill>
        <p:spPr>
          <a:xfrm>
            <a:off x="4941300" y="400450"/>
            <a:ext cx="3891001" cy="30465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Side closeup of a hand pushing a knob on an audio mixer" id="118" name="Google Shape;118;p20"/>
          <p:cNvPicPr preferRelativeResize="0"/>
          <p:nvPr/>
        </p:nvPicPr>
        <p:blipFill rotWithShape="1">
          <a:blip r:embed="rId4">
            <a:alphaModFix/>
          </a:blip>
          <a:srcRect b="23255" l="6112" r="0" t="4207"/>
          <a:stretch/>
        </p:blipFill>
        <p:spPr>
          <a:xfrm>
            <a:off x="425023" y="397950"/>
            <a:ext cx="3890968" cy="19988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Two vintage cameras on a wooden shelf" id="119" name="Google Shape;119;p20"/>
          <p:cNvPicPr preferRelativeResize="0"/>
          <p:nvPr/>
        </p:nvPicPr>
        <p:blipFill rotWithShape="1">
          <a:blip r:embed="rId5">
            <a:alphaModFix/>
          </a:blip>
          <a:srcRect b="14403" l="1513" r="1503" t="22482"/>
          <a:stretch/>
        </p:blipFill>
        <p:spPr>
          <a:xfrm>
            <a:off x="425035" y="2499902"/>
            <a:ext cx="1935230" cy="94461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rtistic overhead shot of caramel-colored coffee in a white mug on a red solid background" id="120" name="Google Shape;120;p20"/>
          <p:cNvPicPr preferRelativeResize="0"/>
          <p:nvPr/>
        </p:nvPicPr>
        <p:blipFill rotWithShape="1">
          <a:blip r:embed="rId6">
            <a:alphaModFix/>
          </a:blip>
          <a:srcRect b="12597" l="8753" r="8745" t="12597"/>
          <a:stretch/>
        </p:blipFill>
        <p:spPr>
          <a:xfrm>
            <a:off x="2464080" y="2499902"/>
            <a:ext cx="1851925" cy="944608"/>
          </a:xfrm>
          <a:prstGeom prst="rect">
            <a:avLst/>
          </a:prstGeom>
          <a:noFill/>
          <a:ln>
            <a:noFill/>
          </a:ln>
        </p:spPr>
      </p:pic>
      <p:sp>
        <p:nvSpPr>
          <p:cNvPr id="121" name="Google Shape;121;p20"/>
          <p:cNvSpPr txBox="1"/>
          <p:nvPr>
            <p:ph idx="4294967295" type="body"/>
          </p:nvPr>
        </p:nvSpPr>
        <p:spPr>
          <a:xfrm>
            <a:off x="318850" y="3771900"/>
            <a:ext cx="3999900" cy="530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100">
                <a:solidFill>
                  <a:schemeClr val="accent3"/>
                </a:solidFill>
              </a:rPr>
              <a:t>Project name</a:t>
            </a:r>
            <a:endParaRPr b="1" sz="2100">
              <a:solidFill>
                <a:schemeClr val="accent3"/>
              </a:solidFill>
            </a:endParaRPr>
          </a:p>
        </p:txBody>
      </p:sp>
      <p:sp>
        <p:nvSpPr>
          <p:cNvPr id="122" name="Google Shape;122;p20"/>
          <p:cNvSpPr txBox="1"/>
          <p:nvPr>
            <p:ph idx="4294967295" type="body"/>
          </p:nvPr>
        </p:nvSpPr>
        <p:spPr>
          <a:xfrm>
            <a:off x="318844" y="4228050"/>
            <a:ext cx="3999900" cy="63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 sz="1200"/>
              <a:t>Lorem ipsum dolor sit amet, consectetur adipiscing elit, sed do eiusmod tempor incididunt</a:t>
            </a:r>
            <a:endParaRPr sz="1200"/>
          </a:p>
        </p:txBody>
      </p:sp>
      <p:pic>
        <p:nvPicPr>
          <p:cNvPr descr="Modern, round computer speaker " id="123" name="Google Shape;123;p20"/>
          <p:cNvPicPr preferRelativeResize="0"/>
          <p:nvPr/>
        </p:nvPicPr>
        <p:blipFill rotWithShape="1">
          <a:blip r:embed="rId7">
            <a:alphaModFix/>
          </a:blip>
          <a:srcRect b="17226" l="8674" r="33304" t="22205"/>
          <a:stretch/>
        </p:blipFill>
        <p:spPr>
          <a:xfrm>
            <a:off x="4941300" y="408675"/>
            <a:ext cx="3891000" cy="3046575"/>
          </a:xfrm>
          <a:prstGeom prst="rect">
            <a:avLst/>
          </a:prstGeom>
          <a:noFill/>
          <a:ln>
            <a:noFill/>
          </a:ln>
        </p:spPr>
      </p:pic>
      <p:sp>
        <p:nvSpPr>
          <p:cNvPr id="124" name="Google Shape;124;p20"/>
          <p:cNvSpPr txBox="1"/>
          <p:nvPr>
            <p:ph idx="4294967295" type="body"/>
          </p:nvPr>
        </p:nvSpPr>
        <p:spPr>
          <a:xfrm>
            <a:off x="4825250" y="3771900"/>
            <a:ext cx="3999900" cy="530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100">
                <a:solidFill>
                  <a:schemeClr val="accent3"/>
                </a:solidFill>
              </a:rPr>
              <a:t>Project name</a:t>
            </a:r>
            <a:endParaRPr b="1" sz="2100">
              <a:solidFill>
                <a:schemeClr val="accent3"/>
              </a:solidFill>
            </a:endParaRPr>
          </a:p>
        </p:txBody>
      </p:sp>
      <p:sp>
        <p:nvSpPr>
          <p:cNvPr id="125" name="Google Shape;125;p20"/>
          <p:cNvSpPr txBox="1"/>
          <p:nvPr>
            <p:ph idx="4294967295" type="body"/>
          </p:nvPr>
        </p:nvSpPr>
        <p:spPr>
          <a:xfrm>
            <a:off x="4825256" y="4228050"/>
            <a:ext cx="3999900" cy="63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 sz="1200"/>
              <a:t>Lorem ipsum dolor sit amet, consectetur adipiscing elit, sed do eiusmod tempor incididunt</a:t>
            </a:r>
            <a:endParaRPr sz="12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21"/>
          <p:cNvSpPr txBox="1"/>
          <p:nvPr>
            <p:ph type="title"/>
          </p:nvPr>
        </p:nvSpPr>
        <p:spPr>
          <a:xfrm>
            <a:off x="265500" y="1816950"/>
            <a:ext cx="4045200" cy="1509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Career highlights</a:t>
            </a:r>
            <a:endParaRPr/>
          </a:p>
        </p:txBody>
      </p:sp>
      <p:sp>
        <p:nvSpPr>
          <p:cNvPr id="131" name="Google Shape;131;p21"/>
          <p:cNvSpPr txBox="1"/>
          <p:nvPr>
            <p:ph idx="2" type="body"/>
          </p:nvPr>
        </p:nvSpPr>
        <p:spPr>
          <a:xfrm>
            <a:off x="4939500" y="724200"/>
            <a:ext cx="39291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UX Director</a:t>
            </a:r>
            <a:endParaRPr b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/>
              <a:t>Company Name, Location</a:t>
            </a:r>
            <a:endParaRPr sz="1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/>
              <a:t>September 20XX - Present</a:t>
            </a:r>
            <a:endParaRPr sz="15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/>
              <a:t>Sr. Designer</a:t>
            </a:r>
            <a:endParaRPr b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/>
              <a:t>Company Name, Location</a:t>
            </a:r>
            <a:endParaRPr sz="1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/>
              <a:t>September 20XX - August 20XX</a:t>
            </a:r>
            <a:endParaRPr sz="15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/>
              <a:t>Designer</a:t>
            </a:r>
            <a:endParaRPr b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/>
              <a:t>Company Name, Location</a:t>
            </a:r>
            <a:endParaRPr sz="1500"/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 sz="1500"/>
              <a:t>June 20XX - July 20XX</a:t>
            </a:r>
            <a:endParaRPr sz="15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bg>
      <p:bgPr>
        <a:solidFill>
          <a:schemeClr val="accent2"/>
        </a:solidFill>
      </p:bgPr>
    </p:bg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22"/>
          <p:cNvSpPr txBox="1"/>
          <p:nvPr>
            <p:ph type="title"/>
          </p:nvPr>
        </p:nvSpPr>
        <p:spPr>
          <a:xfrm>
            <a:off x="490250" y="526350"/>
            <a:ext cx="5683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Acme Design Award recipient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i="1" lang="en" sz="2400"/>
              <a:t>Parker Music campaign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Closeup of protractor ruler on top of architectural diagrams" id="141" name="Google Shape;141;p23"/>
          <p:cNvPicPr preferRelativeResize="0"/>
          <p:nvPr/>
        </p:nvPicPr>
        <p:blipFill rotWithShape="1">
          <a:blip r:embed="rId3">
            <a:alphaModFix/>
          </a:blip>
          <a:srcRect b="3852" l="11077" r="29814" t="3769"/>
          <a:stretch/>
        </p:blipFill>
        <p:spPr>
          <a:xfrm>
            <a:off x="433450" y="434175"/>
            <a:ext cx="4090926" cy="426164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Side view of hands writing in a notebook at a cafe" id="142" name="Google Shape;142;p23"/>
          <p:cNvPicPr preferRelativeResize="0"/>
          <p:nvPr/>
        </p:nvPicPr>
        <p:blipFill rotWithShape="1">
          <a:blip r:embed="rId4">
            <a:alphaModFix/>
          </a:blip>
          <a:srcRect b="26447" l="187" r="53023" t="12064"/>
          <a:stretch/>
        </p:blipFill>
        <p:spPr>
          <a:xfrm>
            <a:off x="4695824" y="434175"/>
            <a:ext cx="1891827" cy="166590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Overhead shot of the components of a typewriter" id="143" name="Google Shape;143;p23"/>
          <p:cNvPicPr preferRelativeResize="0"/>
          <p:nvPr/>
        </p:nvPicPr>
        <p:blipFill rotWithShape="1">
          <a:blip r:embed="rId5">
            <a:alphaModFix/>
          </a:blip>
          <a:srcRect b="15315" l="32807" r="14776" t="15322"/>
          <a:stretch/>
        </p:blipFill>
        <p:spPr>
          <a:xfrm>
            <a:off x="6800775" y="434175"/>
            <a:ext cx="1918200" cy="166589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Two classic cars in front of two yellow garage doors" id="144" name="Google Shape;144;p23"/>
          <p:cNvPicPr preferRelativeResize="0"/>
          <p:nvPr/>
        </p:nvPicPr>
        <p:blipFill rotWithShape="1">
          <a:blip r:embed="rId6">
            <a:alphaModFix/>
          </a:blip>
          <a:srcRect b="8268" l="11342" r="5932" t="17515"/>
          <a:stretch/>
        </p:blipFill>
        <p:spPr>
          <a:xfrm>
            <a:off x="4695825" y="2289750"/>
            <a:ext cx="4023152" cy="240607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24"/>
          <p:cNvSpPr txBox="1"/>
          <p:nvPr>
            <p:ph type="title"/>
          </p:nvPr>
        </p:nvSpPr>
        <p:spPr>
          <a:xfrm>
            <a:off x="311700" y="6318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Contact</a:t>
            </a:r>
            <a:endParaRPr/>
          </a:p>
        </p:txBody>
      </p:sp>
      <p:sp>
        <p:nvSpPr>
          <p:cNvPr id="150" name="Google Shape;150;p24"/>
          <p:cNvSpPr txBox="1"/>
          <p:nvPr>
            <p:ph idx="1" type="body"/>
          </p:nvPr>
        </p:nvSpPr>
        <p:spPr>
          <a:xfrm>
            <a:off x="311700" y="1490875"/>
            <a:ext cx="2808000" cy="307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00"/>
              <a:t>Your Name</a:t>
            </a:r>
            <a:endParaRPr b="1" sz="1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/>
              <a:t>no_reply@example.com</a:t>
            </a:r>
            <a:endParaRPr sz="1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/>
              <a:t>www.example.com</a:t>
            </a:r>
            <a:endParaRPr sz="1400"/>
          </a:p>
        </p:txBody>
      </p:sp>
      <p:pic>
        <p:nvPicPr>
          <p:cNvPr descr="Upward shot of Golden Gate Bridge against blue sky" id="151" name="Google Shape;151;p24"/>
          <p:cNvPicPr preferRelativeResize="0"/>
          <p:nvPr/>
        </p:nvPicPr>
        <p:blipFill rotWithShape="1">
          <a:blip r:embed="rId3">
            <a:alphaModFix/>
          </a:blip>
          <a:srcRect b="0" l="19072" r="4854" t="10"/>
          <a:stretch/>
        </p:blipFill>
        <p:spPr>
          <a:xfrm>
            <a:off x="3274676" y="0"/>
            <a:ext cx="5869325" cy="514350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Gameday">
  <a:themeElements>
    <a:clrScheme name="Gameday">
      <a:dk1>
        <a:srgbClr val="4285F4"/>
      </a:dk1>
      <a:lt1>
        <a:srgbClr val="FFFFFF"/>
      </a:lt1>
      <a:dk2>
        <a:srgbClr val="666666"/>
      </a:dk2>
      <a:lt2>
        <a:srgbClr val="D9D9D9"/>
      </a:lt2>
      <a:accent1>
        <a:srgbClr val="455A64"/>
      </a:accent1>
      <a:accent2>
        <a:srgbClr val="607D8B"/>
      </a:accent2>
      <a:accent3>
        <a:srgbClr val="FF5722"/>
      </a:accent3>
      <a:accent4>
        <a:srgbClr val="D84315"/>
      </a:accent4>
      <a:accent5>
        <a:srgbClr val="1C3AA9"/>
      </a:accent5>
      <a:accent6>
        <a:srgbClr val="FFAB40"/>
      </a:accent6>
      <a:hlink>
        <a:srgbClr val="1C3AA9"/>
      </a:hlink>
      <a:folHlink>
        <a:srgbClr val="1C3AA9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